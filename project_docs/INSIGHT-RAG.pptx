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Brick Sans" charset="1" panose="00000000000000000000"/>
      <p:regular r:id="rId16"/>
    </p:embeddedFont>
    <p:embeddedFont>
      <p:font typeface="Codec Pro Bold" charset="1" panose="00000600000000000000"/>
      <p:regular r:id="rId17"/>
    </p:embeddedFont>
    <p:embeddedFont>
      <p:font typeface="Codec Pro Ultra-Bold" charset="1" panose="00000700000000000000"/>
      <p:regular r:id="rId18"/>
    </p:embeddedFont>
    <p:embeddedFont>
      <p:font typeface="Codec Pro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4226536">
            <a:off x="15519100" y="5725036"/>
            <a:ext cx="2541037" cy="2223407"/>
            <a:chOff x="0" y="0"/>
            <a:chExt cx="812800" cy="71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ln w="38100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27000" y="-1587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674512" y="3722613"/>
            <a:ext cx="1138851" cy="113885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617545" y="4021366"/>
            <a:ext cx="592336" cy="59233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0DCF2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2923408">
            <a:off x="16882363" y="6096939"/>
            <a:ext cx="1312141" cy="270245"/>
            <a:chOff x="0" y="0"/>
            <a:chExt cx="320686" cy="660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0686" cy="66048"/>
            </a:xfrm>
            <a:custGeom>
              <a:avLst/>
              <a:gdLst/>
              <a:ahLst/>
              <a:cxnLst/>
              <a:rect r="r" b="b" t="t" l="l"/>
              <a:pathLst>
                <a:path h="66048" w="320686">
                  <a:moveTo>
                    <a:pt x="0" y="0"/>
                  </a:moveTo>
                  <a:lnTo>
                    <a:pt x="320686" y="0"/>
                  </a:lnTo>
                  <a:lnTo>
                    <a:pt x="320686" y="66048"/>
                  </a:lnTo>
                  <a:lnTo>
                    <a:pt x="0" y="66048"/>
                  </a:lnTo>
                  <a:close/>
                </a:path>
              </a:pathLst>
            </a:custGeom>
            <a:solidFill>
              <a:srgbClr val="5F93C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320686" cy="132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3609974">
            <a:off x="12903056" y="6055173"/>
            <a:ext cx="847932" cy="2179416"/>
          </a:xfrm>
          <a:custGeom>
            <a:avLst/>
            <a:gdLst/>
            <a:ahLst/>
            <a:cxnLst/>
            <a:rect r="r" b="b" t="t" l="l"/>
            <a:pathLst>
              <a:path h="2179416" w="847932">
                <a:moveTo>
                  <a:pt x="0" y="0"/>
                </a:moveTo>
                <a:lnTo>
                  <a:pt x="847932" y="0"/>
                </a:lnTo>
                <a:lnTo>
                  <a:pt x="847932" y="2179416"/>
                </a:lnTo>
                <a:lnTo>
                  <a:pt x="0" y="21794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5891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13663075" y="2558402"/>
            <a:ext cx="1640310" cy="3518265"/>
          </a:xfrm>
          <a:custGeom>
            <a:avLst/>
            <a:gdLst/>
            <a:ahLst/>
            <a:cxnLst/>
            <a:rect r="r" b="b" t="t" l="l"/>
            <a:pathLst>
              <a:path h="3518265" w="1640310">
                <a:moveTo>
                  <a:pt x="1640310" y="0"/>
                </a:moveTo>
                <a:lnTo>
                  <a:pt x="0" y="0"/>
                </a:lnTo>
                <a:lnTo>
                  <a:pt x="0" y="3518265"/>
                </a:lnTo>
                <a:lnTo>
                  <a:pt x="1640310" y="3518265"/>
                </a:lnTo>
                <a:lnTo>
                  <a:pt x="164031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4487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7688117" y="3200327"/>
            <a:ext cx="574379" cy="744672"/>
            <a:chOff x="0" y="0"/>
            <a:chExt cx="151610" cy="1965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1610" cy="196560"/>
            </a:xfrm>
            <a:custGeom>
              <a:avLst/>
              <a:gdLst/>
              <a:ahLst/>
              <a:cxnLst/>
              <a:rect r="r" b="b" t="t" l="l"/>
              <a:pathLst>
                <a:path h="196560" w="151610">
                  <a:moveTo>
                    <a:pt x="0" y="0"/>
                  </a:moveTo>
                  <a:lnTo>
                    <a:pt x="151610" y="0"/>
                  </a:lnTo>
                  <a:lnTo>
                    <a:pt x="151610" y="196560"/>
                  </a:lnTo>
                  <a:lnTo>
                    <a:pt x="0" y="196560"/>
                  </a:lnTo>
                  <a:close/>
                </a:path>
              </a:pathLst>
            </a:custGeom>
            <a:solidFill>
              <a:srgbClr val="215AA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51610" cy="263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299010" y="6007185"/>
            <a:ext cx="500833" cy="496135"/>
            <a:chOff x="0" y="0"/>
            <a:chExt cx="133873" cy="13261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3873" cy="132617"/>
            </a:xfrm>
            <a:custGeom>
              <a:avLst/>
              <a:gdLst/>
              <a:ahLst/>
              <a:cxnLst/>
              <a:rect r="r" b="b" t="t" l="l"/>
              <a:pathLst>
                <a:path h="132617" w="133873">
                  <a:moveTo>
                    <a:pt x="0" y="0"/>
                  </a:moveTo>
                  <a:lnTo>
                    <a:pt x="133873" y="0"/>
                  </a:lnTo>
                  <a:lnTo>
                    <a:pt x="133873" y="132617"/>
                  </a:lnTo>
                  <a:lnTo>
                    <a:pt x="0" y="132617"/>
                  </a:lnTo>
                  <a:close/>
                </a:path>
              </a:pathLst>
            </a:custGeom>
            <a:ln w="28575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133873" cy="1992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-4226536">
            <a:off x="16131184" y="2486430"/>
            <a:ext cx="724807" cy="634206"/>
            <a:chOff x="0" y="0"/>
            <a:chExt cx="812800" cy="711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283989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127000" y="-1587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7634120">
            <a:off x="-564556" y="1770162"/>
            <a:ext cx="1252693" cy="2153067"/>
          </a:xfrm>
          <a:custGeom>
            <a:avLst/>
            <a:gdLst/>
            <a:ahLst/>
            <a:cxnLst/>
            <a:rect r="r" b="b" t="t" l="l"/>
            <a:pathLst>
              <a:path h="2153067" w="1252693">
                <a:moveTo>
                  <a:pt x="0" y="0"/>
                </a:moveTo>
                <a:lnTo>
                  <a:pt x="1252693" y="0"/>
                </a:lnTo>
                <a:lnTo>
                  <a:pt x="1252693" y="2153066"/>
                </a:lnTo>
                <a:lnTo>
                  <a:pt x="0" y="21530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759524" y="1795464"/>
            <a:ext cx="538353" cy="538353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-103618">
            <a:off x="230743" y="-175500"/>
            <a:ext cx="1595913" cy="1396424"/>
            <a:chOff x="0" y="0"/>
            <a:chExt cx="812800" cy="711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ln w="38100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127000" y="-1587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-157984" y="9234851"/>
            <a:ext cx="2076117" cy="2076117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70274" y="9634910"/>
            <a:ext cx="1295718" cy="266863"/>
            <a:chOff x="0" y="0"/>
            <a:chExt cx="320686" cy="6604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20686" cy="66048"/>
            </a:xfrm>
            <a:custGeom>
              <a:avLst/>
              <a:gdLst/>
              <a:ahLst/>
              <a:cxnLst/>
              <a:rect r="r" b="b" t="t" l="l"/>
              <a:pathLst>
                <a:path h="66048" w="320686">
                  <a:moveTo>
                    <a:pt x="0" y="0"/>
                  </a:moveTo>
                  <a:lnTo>
                    <a:pt x="320686" y="0"/>
                  </a:lnTo>
                  <a:lnTo>
                    <a:pt x="320686" y="66048"/>
                  </a:lnTo>
                  <a:lnTo>
                    <a:pt x="0" y="66048"/>
                  </a:lnTo>
                  <a:close/>
                </a:path>
              </a:pathLst>
            </a:custGeom>
            <a:solidFill>
              <a:srgbClr val="5F93C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320686" cy="132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70166" y="8348386"/>
            <a:ext cx="458534" cy="458534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0DCF2"/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9584751" y="8746866"/>
            <a:ext cx="2794097" cy="2794097"/>
          </a:xfrm>
          <a:custGeom>
            <a:avLst/>
            <a:gdLst/>
            <a:ahLst/>
            <a:cxnLst/>
            <a:rect r="r" b="b" t="t" l="l"/>
            <a:pathLst>
              <a:path h="2794097" w="2794097">
                <a:moveTo>
                  <a:pt x="0" y="0"/>
                </a:moveTo>
                <a:lnTo>
                  <a:pt x="2794096" y="0"/>
                </a:lnTo>
                <a:lnTo>
                  <a:pt x="2794096" y="2794096"/>
                </a:lnTo>
                <a:lnTo>
                  <a:pt x="0" y="27940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-4226536">
            <a:off x="8940978" y="7857517"/>
            <a:ext cx="801265" cy="701106"/>
            <a:chOff x="0" y="0"/>
            <a:chExt cx="812800" cy="711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ln w="28575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127000" y="-1587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139552" y="7973254"/>
            <a:ext cx="673011" cy="582007"/>
            <a:chOff x="0" y="0"/>
            <a:chExt cx="179896" cy="15557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79896" cy="155571"/>
            </a:xfrm>
            <a:custGeom>
              <a:avLst/>
              <a:gdLst/>
              <a:ahLst/>
              <a:cxnLst/>
              <a:rect r="r" b="b" t="t" l="l"/>
              <a:pathLst>
                <a:path h="155571" w="179896">
                  <a:moveTo>
                    <a:pt x="0" y="0"/>
                  </a:moveTo>
                  <a:lnTo>
                    <a:pt x="179896" y="0"/>
                  </a:lnTo>
                  <a:lnTo>
                    <a:pt x="179896" y="155571"/>
                  </a:lnTo>
                  <a:lnTo>
                    <a:pt x="0" y="155571"/>
                  </a:lnTo>
                  <a:close/>
                </a:path>
              </a:pathLst>
            </a:custGeom>
            <a:solidFill>
              <a:srgbClr val="215AA9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66675"/>
              <a:ext cx="179896" cy="222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sp>
        <p:nvSpPr>
          <p:cNvPr name="Freeform 48" id="48"/>
          <p:cNvSpPr/>
          <p:nvPr/>
        </p:nvSpPr>
        <p:spPr>
          <a:xfrm flipH="true" flipV="false" rot="-3594555">
            <a:off x="9429408" y="-1128468"/>
            <a:ext cx="1239412" cy="3185629"/>
          </a:xfrm>
          <a:custGeom>
            <a:avLst/>
            <a:gdLst/>
            <a:ahLst/>
            <a:cxnLst/>
            <a:rect r="r" b="b" t="t" l="l"/>
            <a:pathLst>
              <a:path h="3185629" w="1239412">
                <a:moveTo>
                  <a:pt x="1239412" y="0"/>
                </a:moveTo>
                <a:lnTo>
                  <a:pt x="0" y="0"/>
                </a:lnTo>
                <a:lnTo>
                  <a:pt x="0" y="3185629"/>
                </a:lnTo>
                <a:lnTo>
                  <a:pt x="1239412" y="3185629"/>
                </a:lnTo>
                <a:lnTo>
                  <a:pt x="12394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5891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true" flipV="false" rot="0">
            <a:off x="12361576" y="3572663"/>
            <a:ext cx="587865" cy="960147"/>
          </a:xfrm>
          <a:custGeom>
            <a:avLst/>
            <a:gdLst/>
            <a:ahLst/>
            <a:cxnLst/>
            <a:rect r="r" b="b" t="t" l="l"/>
            <a:pathLst>
              <a:path h="960147" w="587865">
                <a:moveTo>
                  <a:pt x="587864" y="0"/>
                </a:moveTo>
                <a:lnTo>
                  <a:pt x="0" y="0"/>
                </a:lnTo>
                <a:lnTo>
                  <a:pt x="0" y="960147"/>
                </a:lnTo>
                <a:lnTo>
                  <a:pt x="587864" y="960147"/>
                </a:lnTo>
                <a:lnTo>
                  <a:pt x="587864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-664302" b="-511882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8137082" y="1547396"/>
            <a:ext cx="1006918" cy="351376"/>
            <a:chOff x="0" y="0"/>
            <a:chExt cx="269149" cy="9392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69149" cy="93923"/>
            </a:xfrm>
            <a:custGeom>
              <a:avLst/>
              <a:gdLst/>
              <a:ahLst/>
              <a:cxnLst/>
              <a:rect r="r" b="b" t="t" l="l"/>
              <a:pathLst>
                <a:path h="93923" w="269149">
                  <a:moveTo>
                    <a:pt x="0" y="0"/>
                  </a:moveTo>
                  <a:lnTo>
                    <a:pt x="269149" y="0"/>
                  </a:lnTo>
                  <a:lnTo>
                    <a:pt x="269149" y="93923"/>
                  </a:lnTo>
                  <a:lnTo>
                    <a:pt x="0" y="93923"/>
                  </a:lnTo>
                  <a:close/>
                </a:path>
              </a:pathLst>
            </a:custGeom>
            <a:ln w="28575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-66675"/>
              <a:ext cx="269149" cy="1605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460719" y="6137877"/>
            <a:ext cx="540709" cy="540709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0DCF2"/>
            </a:solidFill>
            <a:ln cap="sq">
              <a:noFill/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sp>
        <p:nvSpPr>
          <p:cNvPr name="Freeform 56" id="56"/>
          <p:cNvSpPr/>
          <p:nvPr/>
        </p:nvSpPr>
        <p:spPr>
          <a:xfrm flipH="false" flipV="false" rot="0">
            <a:off x="10912523" y="4211605"/>
            <a:ext cx="378649" cy="160868"/>
          </a:xfrm>
          <a:custGeom>
            <a:avLst/>
            <a:gdLst/>
            <a:ahLst/>
            <a:cxnLst/>
            <a:rect r="r" b="b" t="t" l="l"/>
            <a:pathLst>
              <a:path h="160868" w="378649">
                <a:moveTo>
                  <a:pt x="0" y="0"/>
                </a:moveTo>
                <a:lnTo>
                  <a:pt x="378649" y="0"/>
                </a:lnTo>
                <a:lnTo>
                  <a:pt x="378649" y="160867"/>
                </a:lnTo>
                <a:lnTo>
                  <a:pt x="0" y="16086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-119420" b="-41647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570166" y="4348878"/>
            <a:ext cx="10324247" cy="1706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35"/>
              </a:lnSpc>
            </a:pPr>
            <a:r>
              <a:rPr lang="en-US" sz="9453">
                <a:solidFill>
                  <a:srgbClr val="181818"/>
                </a:solidFill>
                <a:latin typeface="Brick Sans"/>
                <a:ea typeface="Brick Sans"/>
                <a:cs typeface="Brick Sans"/>
                <a:sym typeface="Brick Sans"/>
              </a:rPr>
              <a:t>INSIGHT-RAG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366313" y="7396077"/>
            <a:ext cx="3767445" cy="1519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8"/>
              </a:lnSpc>
            </a:pPr>
            <a:r>
              <a:rPr lang="en-US" sz="2813" b="true">
                <a:solidFill>
                  <a:srgbClr val="18181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BY</a:t>
            </a:r>
          </a:p>
          <a:p>
            <a:pPr algn="ctr">
              <a:lnSpc>
                <a:spcPts val="3938"/>
              </a:lnSpc>
            </a:pPr>
            <a:r>
              <a:rPr lang="en-US" sz="2813" b="true">
                <a:solidFill>
                  <a:srgbClr val="18181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THIRUMURUGESH J D</a:t>
            </a:r>
          </a:p>
          <a:p>
            <a:pPr algn="ctr">
              <a:lnSpc>
                <a:spcPts val="3938"/>
              </a:lnSpc>
            </a:pPr>
            <a:r>
              <a:rPr lang="en-US" sz="2813" b="true">
                <a:solidFill>
                  <a:srgbClr val="18181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VARUN A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451971" y="1254179"/>
            <a:ext cx="2518968" cy="449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8"/>
              </a:lnSpc>
            </a:pPr>
            <a:r>
              <a:rPr lang="en-US" sz="2413" b="true">
                <a:solidFill>
                  <a:srgbClr val="18181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TEAM CULT</a:t>
            </a:r>
          </a:p>
        </p:txBody>
      </p:sp>
      <p:sp>
        <p:nvSpPr>
          <p:cNvPr name="Freeform 60" id="60"/>
          <p:cNvSpPr/>
          <p:nvPr/>
        </p:nvSpPr>
        <p:spPr>
          <a:xfrm flipH="false" flipV="false" rot="0">
            <a:off x="13484016" y="1638260"/>
            <a:ext cx="378649" cy="160868"/>
          </a:xfrm>
          <a:custGeom>
            <a:avLst/>
            <a:gdLst/>
            <a:ahLst/>
            <a:cxnLst/>
            <a:rect r="r" b="b" t="t" l="l"/>
            <a:pathLst>
              <a:path h="160868" w="378649">
                <a:moveTo>
                  <a:pt x="0" y="0"/>
                </a:moveTo>
                <a:lnTo>
                  <a:pt x="378649" y="0"/>
                </a:lnTo>
                <a:lnTo>
                  <a:pt x="378649" y="160868"/>
                </a:lnTo>
                <a:lnTo>
                  <a:pt x="0" y="16086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-119420" b="-41647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3146369" y="2253383"/>
            <a:ext cx="378649" cy="160868"/>
          </a:xfrm>
          <a:custGeom>
            <a:avLst/>
            <a:gdLst/>
            <a:ahLst/>
            <a:cxnLst/>
            <a:rect r="r" b="b" t="t" l="l"/>
            <a:pathLst>
              <a:path h="160868" w="378649">
                <a:moveTo>
                  <a:pt x="0" y="0"/>
                </a:moveTo>
                <a:lnTo>
                  <a:pt x="378649" y="0"/>
                </a:lnTo>
                <a:lnTo>
                  <a:pt x="378649" y="160867"/>
                </a:lnTo>
                <a:lnTo>
                  <a:pt x="0" y="16086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-119420" b="-41647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6133758" y="8555261"/>
            <a:ext cx="378649" cy="160868"/>
          </a:xfrm>
          <a:custGeom>
            <a:avLst/>
            <a:gdLst/>
            <a:ahLst/>
            <a:cxnLst/>
            <a:rect r="r" b="b" t="t" l="l"/>
            <a:pathLst>
              <a:path h="160868" w="378649">
                <a:moveTo>
                  <a:pt x="0" y="0"/>
                </a:moveTo>
                <a:lnTo>
                  <a:pt x="378649" y="0"/>
                </a:lnTo>
                <a:lnTo>
                  <a:pt x="378649" y="160868"/>
                </a:lnTo>
                <a:lnTo>
                  <a:pt x="0" y="16086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-119420" b="-41647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94944" y="4944419"/>
            <a:ext cx="14898111" cy="1433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80"/>
              </a:lnSpc>
            </a:pPr>
            <a:r>
              <a:rPr lang="en-US" sz="7700" b="true">
                <a:solidFill>
                  <a:srgbClr val="181818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Document Q&amp;A Bot using RAG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51971" y="1254179"/>
            <a:ext cx="2518968" cy="449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8"/>
              </a:lnSpc>
            </a:pPr>
            <a:r>
              <a:rPr lang="en-US" sz="2413" b="true">
                <a:solidFill>
                  <a:srgbClr val="18181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TEAM CULT</a:t>
            </a:r>
          </a:p>
        </p:txBody>
      </p:sp>
      <p:grpSp>
        <p:nvGrpSpPr>
          <p:cNvPr name="Group 4" id="4"/>
          <p:cNvGrpSpPr/>
          <p:nvPr/>
        </p:nvGrpSpPr>
        <p:grpSpPr>
          <a:xfrm rot="-2191441">
            <a:off x="13415527" y="643388"/>
            <a:ext cx="1268135" cy="1268135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true" flipV="false" rot="-2191441">
            <a:off x="12606538" y="-331354"/>
            <a:ext cx="1826520" cy="3917665"/>
          </a:xfrm>
          <a:custGeom>
            <a:avLst/>
            <a:gdLst/>
            <a:ahLst/>
            <a:cxnLst/>
            <a:rect r="r" b="b" t="t" l="l"/>
            <a:pathLst>
              <a:path h="3917665" w="1826520">
                <a:moveTo>
                  <a:pt x="1826521" y="0"/>
                </a:moveTo>
                <a:lnTo>
                  <a:pt x="0" y="0"/>
                </a:lnTo>
                <a:lnTo>
                  <a:pt x="0" y="3917665"/>
                </a:lnTo>
                <a:lnTo>
                  <a:pt x="1826521" y="3917665"/>
                </a:lnTo>
                <a:lnTo>
                  <a:pt x="182652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14487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4041344">
            <a:off x="10773114" y="1461142"/>
            <a:ext cx="737946" cy="1896723"/>
          </a:xfrm>
          <a:custGeom>
            <a:avLst/>
            <a:gdLst/>
            <a:ahLst/>
            <a:cxnLst/>
            <a:rect r="r" b="b" t="t" l="l"/>
            <a:pathLst>
              <a:path h="1896723" w="737946">
                <a:moveTo>
                  <a:pt x="0" y="0"/>
                </a:moveTo>
                <a:lnTo>
                  <a:pt x="737946" y="0"/>
                </a:lnTo>
                <a:lnTo>
                  <a:pt x="737946" y="1896723"/>
                </a:lnTo>
                <a:lnTo>
                  <a:pt x="0" y="18967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5891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622484" y="9232692"/>
            <a:ext cx="2076117" cy="207611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05774" y="9632751"/>
            <a:ext cx="1295718" cy="266863"/>
            <a:chOff x="0" y="0"/>
            <a:chExt cx="320686" cy="660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20686" cy="66048"/>
            </a:xfrm>
            <a:custGeom>
              <a:avLst/>
              <a:gdLst/>
              <a:ahLst/>
              <a:cxnLst/>
              <a:rect r="r" b="b" t="t" l="l"/>
              <a:pathLst>
                <a:path h="66048" w="320686">
                  <a:moveTo>
                    <a:pt x="0" y="0"/>
                  </a:moveTo>
                  <a:lnTo>
                    <a:pt x="320686" y="0"/>
                  </a:lnTo>
                  <a:lnTo>
                    <a:pt x="320686" y="66048"/>
                  </a:lnTo>
                  <a:lnTo>
                    <a:pt x="0" y="66048"/>
                  </a:lnTo>
                  <a:close/>
                </a:path>
              </a:pathLst>
            </a:custGeom>
            <a:solidFill>
              <a:srgbClr val="5F93C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320686" cy="132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5666" y="8346227"/>
            <a:ext cx="458534" cy="45853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0DCF2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4226536">
            <a:off x="17303954" y="7234523"/>
            <a:ext cx="2541037" cy="2223407"/>
            <a:chOff x="0" y="0"/>
            <a:chExt cx="812800" cy="711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ln w="38100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127000" y="-1587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6136544" y="1954792"/>
            <a:ext cx="738498" cy="738498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0DCF2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2923408">
            <a:off x="14749406" y="270783"/>
            <a:ext cx="1574239" cy="214923"/>
            <a:chOff x="0" y="0"/>
            <a:chExt cx="384742" cy="5252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84742" cy="52527"/>
            </a:xfrm>
            <a:custGeom>
              <a:avLst/>
              <a:gdLst/>
              <a:ahLst/>
              <a:cxnLst/>
              <a:rect r="r" b="b" t="t" l="l"/>
              <a:pathLst>
                <a:path h="52527" w="384742">
                  <a:moveTo>
                    <a:pt x="0" y="0"/>
                  </a:moveTo>
                  <a:lnTo>
                    <a:pt x="384742" y="0"/>
                  </a:lnTo>
                  <a:lnTo>
                    <a:pt x="384742" y="52527"/>
                  </a:lnTo>
                  <a:lnTo>
                    <a:pt x="0" y="52527"/>
                  </a:lnTo>
                  <a:close/>
                </a:path>
              </a:pathLst>
            </a:custGeom>
            <a:solidFill>
              <a:srgbClr val="5F93C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384742" cy="119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536525" y="8321433"/>
            <a:ext cx="2303567" cy="372336"/>
            <a:chOff x="0" y="0"/>
            <a:chExt cx="608037" cy="982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08037" cy="98280"/>
            </a:xfrm>
            <a:custGeom>
              <a:avLst/>
              <a:gdLst/>
              <a:ahLst/>
              <a:cxnLst/>
              <a:rect r="r" b="b" t="t" l="l"/>
              <a:pathLst>
                <a:path h="98280" w="608037">
                  <a:moveTo>
                    <a:pt x="0" y="0"/>
                  </a:moveTo>
                  <a:lnTo>
                    <a:pt x="608037" y="0"/>
                  </a:lnTo>
                  <a:lnTo>
                    <a:pt x="608037" y="98280"/>
                  </a:lnTo>
                  <a:lnTo>
                    <a:pt x="0" y="98280"/>
                  </a:lnTo>
                  <a:close/>
                </a:path>
              </a:pathLst>
            </a:custGeom>
            <a:solidFill>
              <a:srgbClr val="215AA9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608037" cy="164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-103618">
            <a:off x="154170" y="-386970"/>
            <a:ext cx="1749060" cy="1530427"/>
            <a:chOff x="0" y="0"/>
            <a:chExt cx="812800" cy="711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ln w="38100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127000" y="-1587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true" flipV="false" rot="-2191441">
            <a:off x="-1070152" y="839344"/>
            <a:ext cx="1826520" cy="3917665"/>
          </a:xfrm>
          <a:custGeom>
            <a:avLst/>
            <a:gdLst/>
            <a:ahLst/>
            <a:cxnLst/>
            <a:rect r="r" b="b" t="t" l="l"/>
            <a:pathLst>
              <a:path h="3917665" w="1826520">
                <a:moveTo>
                  <a:pt x="1826520" y="0"/>
                </a:moveTo>
                <a:lnTo>
                  <a:pt x="0" y="0"/>
                </a:lnTo>
                <a:lnTo>
                  <a:pt x="0" y="3917665"/>
                </a:lnTo>
                <a:lnTo>
                  <a:pt x="1826520" y="3917665"/>
                </a:lnTo>
                <a:lnTo>
                  <a:pt x="182652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14487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583521" y="2542452"/>
            <a:ext cx="511449" cy="511449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3989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780493" y="1703846"/>
            <a:ext cx="395784" cy="460522"/>
            <a:chOff x="0" y="0"/>
            <a:chExt cx="105793" cy="12309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5793" cy="123097"/>
            </a:xfrm>
            <a:custGeom>
              <a:avLst/>
              <a:gdLst/>
              <a:ahLst/>
              <a:cxnLst/>
              <a:rect r="r" b="b" t="t" l="l"/>
              <a:pathLst>
                <a:path h="123097" w="105793">
                  <a:moveTo>
                    <a:pt x="0" y="0"/>
                  </a:moveTo>
                  <a:lnTo>
                    <a:pt x="105793" y="0"/>
                  </a:lnTo>
                  <a:lnTo>
                    <a:pt x="105793" y="123097"/>
                  </a:lnTo>
                  <a:lnTo>
                    <a:pt x="0" y="123097"/>
                  </a:lnTo>
                  <a:close/>
                </a:path>
              </a:pathLst>
            </a:custGeom>
            <a:solidFill>
              <a:srgbClr val="215AA9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105793" cy="1897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true" flipV="false" rot="0">
            <a:off x="16765602" y="4290564"/>
            <a:ext cx="593878" cy="969967"/>
          </a:xfrm>
          <a:custGeom>
            <a:avLst/>
            <a:gdLst/>
            <a:ahLst/>
            <a:cxnLst/>
            <a:rect r="r" b="b" t="t" l="l"/>
            <a:pathLst>
              <a:path h="969967" w="593878">
                <a:moveTo>
                  <a:pt x="593877" y="0"/>
                </a:moveTo>
                <a:lnTo>
                  <a:pt x="0" y="0"/>
                </a:lnTo>
                <a:lnTo>
                  <a:pt x="0" y="969968"/>
                </a:lnTo>
                <a:lnTo>
                  <a:pt x="593877" y="969968"/>
                </a:lnTo>
                <a:lnTo>
                  <a:pt x="59387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664302" b="-511882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2293750" y="6587197"/>
            <a:ext cx="13125770" cy="88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78"/>
              </a:lnSpc>
            </a:pPr>
            <a:r>
              <a:rPr lang="en-US" sz="2413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An AI-powered document question answering system that retrieves relevant document context and generates answers with citations while preventing hallucinations.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98157" y="3675794"/>
            <a:ext cx="14898111" cy="1385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0"/>
              </a:lnSpc>
            </a:pPr>
            <a:r>
              <a:rPr lang="en-US" sz="7700">
                <a:solidFill>
                  <a:srgbClr val="181818"/>
                </a:solidFill>
                <a:latin typeface="Brick Sans"/>
                <a:ea typeface="Brick Sans"/>
                <a:cs typeface="Brick Sans"/>
                <a:sym typeface="Brick Sans"/>
              </a:rPr>
              <a:t>INSIGHT-RAG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84936" y="2140492"/>
            <a:ext cx="11518128" cy="1433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0"/>
              </a:lnSpc>
            </a:pPr>
            <a:r>
              <a:rPr lang="en-US" sz="7700" b="true">
                <a:solidFill>
                  <a:srgbClr val="181818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Problem Statement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51971" y="1254179"/>
            <a:ext cx="2518968" cy="449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8"/>
              </a:lnSpc>
            </a:pPr>
            <a:r>
              <a:rPr lang="en-US" sz="2413" b="true">
                <a:solidFill>
                  <a:srgbClr val="18181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TEAM CULT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57868" y="4725438"/>
            <a:ext cx="14265505" cy="2124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Organizations store huge amounts of documents and knowledge</a:t>
            </a:r>
          </a:p>
          <a:p>
            <a:pPr algn="just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Finding specific information takes significant time</a:t>
            </a:r>
          </a:p>
          <a:p>
            <a:pPr algn="just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Tradition</a:t>
            </a:r>
            <a:r>
              <a:rPr lang="en-US" sz="29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al</a:t>
            </a:r>
            <a:r>
              <a:rPr lang="en-US" sz="29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 search often returns irrelevant results</a:t>
            </a:r>
          </a:p>
          <a:p>
            <a:pPr algn="just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AI chatbots may generate incorrect or hallucinated answers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7634120">
            <a:off x="-340027" y="2184522"/>
            <a:ext cx="1488473" cy="2558313"/>
          </a:xfrm>
          <a:custGeom>
            <a:avLst/>
            <a:gdLst/>
            <a:ahLst/>
            <a:cxnLst/>
            <a:rect r="r" b="b" t="t" l="l"/>
            <a:pathLst>
              <a:path h="2558313" w="1488473">
                <a:moveTo>
                  <a:pt x="0" y="0"/>
                </a:moveTo>
                <a:lnTo>
                  <a:pt x="1488473" y="0"/>
                </a:lnTo>
                <a:lnTo>
                  <a:pt x="1488473" y="2558314"/>
                </a:lnTo>
                <a:lnTo>
                  <a:pt x="0" y="2558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34597" y="2452103"/>
            <a:ext cx="538353" cy="53835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03618">
            <a:off x="230743" y="-175500"/>
            <a:ext cx="1595913" cy="1396424"/>
            <a:chOff x="0" y="0"/>
            <a:chExt cx="812800" cy="711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ln w="38100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27000" y="-1587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943326">
            <a:off x="14654418" y="-246352"/>
            <a:ext cx="1335095" cy="1335095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524923" y="2253814"/>
            <a:ext cx="592336" cy="59233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0DCF2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true" flipV="false" rot="-943326">
            <a:off x="13878058" y="-1222588"/>
            <a:ext cx="1640310" cy="3518265"/>
          </a:xfrm>
          <a:custGeom>
            <a:avLst/>
            <a:gdLst/>
            <a:ahLst/>
            <a:cxnLst/>
            <a:rect r="r" b="b" t="t" l="l"/>
            <a:pathLst>
              <a:path h="3518265" w="1640310">
                <a:moveTo>
                  <a:pt x="1640309" y="0"/>
                </a:moveTo>
                <a:lnTo>
                  <a:pt x="0" y="0"/>
                </a:lnTo>
                <a:lnTo>
                  <a:pt x="0" y="3518266"/>
                </a:lnTo>
                <a:lnTo>
                  <a:pt x="1640309" y="3518266"/>
                </a:lnTo>
                <a:lnTo>
                  <a:pt x="164030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4487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-246618" y="9005584"/>
            <a:ext cx="2076117" cy="2076117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1640" y="9405643"/>
            <a:ext cx="1295718" cy="266863"/>
            <a:chOff x="0" y="0"/>
            <a:chExt cx="320686" cy="6604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20686" cy="66048"/>
            </a:xfrm>
            <a:custGeom>
              <a:avLst/>
              <a:gdLst/>
              <a:ahLst/>
              <a:cxnLst/>
              <a:rect r="r" b="b" t="t" l="l"/>
              <a:pathLst>
                <a:path h="66048" w="320686">
                  <a:moveTo>
                    <a:pt x="0" y="0"/>
                  </a:moveTo>
                  <a:lnTo>
                    <a:pt x="320686" y="0"/>
                  </a:lnTo>
                  <a:lnTo>
                    <a:pt x="320686" y="66048"/>
                  </a:lnTo>
                  <a:lnTo>
                    <a:pt x="0" y="66048"/>
                  </a:lnTo>
                  <a:close/>
                </a:path>
              </a:pathLst>
            </a:custGeom>
            <a:solidFill>
              <a:srgbClr val="5F93C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320686" cy="132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81532" y="8119119"/>
            <a:ext cx="458534" cy="458534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0DCF2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true" flipV="false" rot="0">
            <a:off x="16691130" y="8038333"/>
            <a:ext cx="789620" cy="1289670"/>
          </a:xfrm>
          <a:custGeom>
            <a:avLst/>
            <a:gdLst/>
            <a:ahLst/>
            <a:cxnLst/>
            <a:rect r="r" b="b" t="t" l="l"/>
            <a:pathLst>
              <a:path h="1289670" w="789620">
                <a:moveTo>
                  <a:pt x="789621" y="0"/>
                </a:moveTo>
                <a:lnTo>
                  <a:pt x="0" y="0"/>
                </a:lnTo>
                <a:lnTo>
                  <a:pt x="0" y="1289670"/>
                </a:lnTo>
                <a:lnTo>
                  <a:pt x="789621" y="1289670"/>
                </a:lnTo>
                <a:lnTo>
                  <a:pt x="78962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664302" b="-511882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-4226536">
            <a:off x="16821408" y="757125"/>
            <a:ext cx="724807" cy="634206"/>
            <a:chOff x="0" y="0"/>
            <a:chExt cx="812800" cy="711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283989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127000" y="-1587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3208600">
            <a:off x="9351355" y="-814075"/>
            <a:ext cx="878532" cy="2258068"/>
          </a:xfrm>
          <a:custGeom>
            <a:avLst/>
            <a:gdLst/>
            <a:ahLst/>
            <a:cxnLst/>
            <a:rect r="r" b="b" t="t" l="l"/>
            <a:pathLst>
              <a:path h="2258068" w="878532">
                <a:moveTo>
                  <a:pt x="0" y="0"/>
                </a:moveTo>
                <a:lnTo>
                  <a:pt x="878532" y="0"/>
                </a:lnTo>
                <a:lnTo>
                  <a:pt x="878532" y="2258068"/>
                </a:lnTo>
                <a:lnTo>
                  <a:pt x="0" y="22580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5891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618">
            <a:off x="-190111" y="-386970"/>
            <a:ext cx="1749060" cy="1530427"/>
            <a:chOff x="0" y="0"/>
            <a:chExt cx="812800" cy="71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ln w="38100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27000" y="-1587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-2191441">
            <a:off x="-1414433" y="839344"/>
            <a:ext cx="1826520" cy="3917665"/>
          </a:xfrm>
          <a:custGeom>
            <a:avLst/>
            <a:gdLst/>
            <a:ahLst/>
            <a:cxnLst/>
            <a:rect r="r" b="b" t="t" l="l"/>
            <a:pathLst>
              <a:path h="3917665" w="1826520">
                <a:moveTo>
                  <a:pt x="1826521" y="0"/>
                </a:moveTo>
                <a:lnTo>
                  <a:pt x="0" y="0"/>
                </a:lnTo>
                <a:lnTo>
                  <a:pt x="0" y="3917665"/>
                </a:lnTo>
                <a:lnTo>
                  <a:pt x="1826521" y="3917665"/>
                </a:lnTo>
                <a:lnTo>
                  <a:pt x="182652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14487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39240" y="2542452"/>
            <a:ext cx="511449" cy="51144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398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-2191441">
            <a:off x="17208205" y="1048858"/>
            <a:ext cx="1826520" cy="3917665"/>
          </a:xfrm>
          <a:custGeom>
            <a:avLst/>
            <a:gdLst/>
            <a:ahLst/>
            <a:cxnLst/>
            <a:rect r="r" b="b" t="t" l="l"/>
            <a:pathLst>
              <a:path h="3917665" w="1826520">
                <a:moveTo>
                  <a:pt x="1826520" y="0"/>
                </a:moveTo>
                <a:lnTo>
                  <a:pt x="0" y="0"/>
                </a:lnTo>
                <a:lnTo>
                  <a:pt x="0" y="3917665"/>
                </a:lnTo>
                <a:lnTo>
                  <a:pt x="1826520" y="3917665"/>
                </a:lnTo>
                <a:lnTo>
                  <a:pt x="182652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14487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5338472" y="1728628"/>
            <a:ext cx="592336" cy="59233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0DCF2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4226536">
            <a:off x="15988529" y="656624"/>
            <a:ext cx="724807" cy="634206"/>
            <a:chOff x="0" y="0"/>
            <a:chExt cx="812800" cy="711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283989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27000" y="-1587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4041344">
            <a:off x="13176913" y="724019"/>
            <a:ext cx="781714" cy="2009218"/>
          </a:xfrm>
          <a:custGeom>
            <a:avLst/>
            <a:gdLst/>
            <a:ahLst/>
            <a:cxnLst/>
            <a:rect r="r" b="b" t="t" l="l"/>
            <a:pathLst>
              <a:path h="2009218" w="781714">
                <a:moveTo>
                  <a:pt x="0" y="0"/>
                </a:moveTo>
                <a:lnTo>
                  <a:pt x="781713" y="0"/>
                </a:lnTo>
                <a:lnTo>
                  <a:pt x="781713" y="2009218"/>
                </a:lnTo>
                <a:lnTo>
                  <a:pt x="0" y="20092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5891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2490120" y="561285"/>
            <a:ext cx="516546" cy="419833"/>
            <a:chOff x="0" y="0"/>
            <a:chExt cx="138073" cy="11222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8073" cy="112221"/>
            </a:xfrm>
            <a:custGeom>
              <a:avLst/>
              <a:gdLst/>
              <a:ahLst/>
              <a:cxnLst/>
              <a:rect r="r" b="b" t="t" l="l"/>
              <a:pathLst>
                <a:path h="112221" w="138073">
                  <a:moveTo>
                    <a:pt x="0" y="0"/>
                  </a:moveTo>
                  <a:lnTo>
                    <a:pt x="138073" y="0"/>
                  </a:lnTo>
                  <a:lnTo>
                    <a:pt x="138073" y="112221"/>
                  </a:lnTo>
                  <a:lnTo>
                    <a:pt x="0" y="112221"/>
                  </a:lnTo>
                  <a:close/>
                </a:path>
              </a:pathLst>
            </a:custGeom>
            <a:ln w="28575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38073" cy="178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true" flipV="false" rot="0">
            <a:off x="442264" y="5563380"/>
            <a:ext cx="484310" cy="791013"/>
          </a:xfrm>
          <a:custGeom>
            <a:avLst/>
            <a:gdLst/>
            <a:ahLst/>
            <a:cxnLst/>
            <a:rect r="r" b="b" t="t" l="l"/>
            <a:pathLst>
              <a:path h="791013" w="484310">
                <a:moveTo>
                  <a:pt x="484310" y="0"/>
                </a:moveTo>
                <a:lnTo>
                  <a:pt x="0" y="0"/>
                </a:lnTo>
                <a:lnTo>
                  <a:pt x="0" y="791013"/>
                </a:lnTo>
                <a:lnTo>
                  <a:pt x="484310" y="791013"/>
                </a:lnTo>
                <a:lnTo>
                  <a:pt x="48431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664302" b="-511882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0" y="8846445"/>
            <a:ext cx="2881109" cy="2881109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65698" y="8115332"/>
            <a:ext cx="458534" cy="458534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0DCF2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2895561" y="5925330"/>
            <a:ext cx="12739079" cy="3169150"/>
          </a:xfrm>
          <a:custGeom>
            <a:avLst/>
            <a:gdLst/>
            <a:ahLst/>
            <a:cxnLst/>
            <a:rect r="r" b="b" t="t" l="l"/>
            <a:pathLst>
              <a:path h="3169150" w="12739079">
                <a:moveTo>
                  <a:pt x="0" y="0"/>
                </a:moveTo>
                <a:lnTo>
                  <a:pt x="12739079" y="0"/>
                </a:lnTo>
                <a:lnTo>
                  <a:pt x="12739079" y="3169150"/>
                </a:lnTo>
                <a:lnTo>
                  <a:pt x="0" y="31691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4121" t="-77305" r="-4258" b="-65593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451971" y="1828609"/>
            <a:ext cx="9529320" cy="1433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80"/>
              </a:lnSpc>
            </a:pPr>
            <a:r>
              <a:rPr lang="en-US" sz="7700" b="true">
                <a:solidFill>
                  <a:srgbClr val="181818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Solution Overview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51971" y="1254179"/>
            <a:ext cx="2518968" cy="449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8"/>
              </a:lnSpc>
            </a:pPr>
            <a:r>
              <a:rPr lang="en-US" sz="2413" b="true">
                <a:solidFill>
                  <a:srgbClr val="18181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TEAM CULT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89767" y="3548524"/>
            <a:ext cx="14241041" cy="201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User uploads documents into </a:t>
            </a:r>
            <a:r>
              <a:rPr lang="en-US" sz="27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t</a:t>
            </a:r>
            <a:r>
              <a:rPr lang="en-US" sz="27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h</a:t>
            </a:r>
            <a:r>
              <a:rPr lang="en-US" sz="27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e</a:t>
            </a:r>
            <a:r>
              <a:rPr lang="en-US" sz="27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 sy</a:t>
            </a:r>
            <a:r>
              <a:rPr lang="en-US" sz="27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s</a:t>
            </a:r>
            <a:r>
              <a:rPr lang="en-US" sz="27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tem</a:t>
            </a:r>
          </a:p>
          <a:p>
            <a:pPr algn="just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User asks a natural language question</a:t>
            </a:r>
          </a:p>
          <a:p>
            <a:pPr algn="just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System finds the most relevant document sections</a:t>
            </a:r>
          </a:p>
          <a:p>
            <a:pPr algn="just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AI generates a grounded answer with citations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191441">
            <a:off x="14808478" y="719755"/>
            <a:ext cx="1268135" cy="126813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-2191441">
            <a:off x="13879301" y="-254142"/>
            <a:ext cx="1826520" cy="3917665"/>
          </a:xfrm>
          <a:custGeom>
            <a:avLst/>
            <a:gdLst/>
            <a:ahLst/>
            <a:cxnLst/>
            <a:rect r="r" b="b" t="t" l="l"/>
            <a:pathLst>
              <a:path h="3917665" w="1826520">
                <a:moveTo>
                  <a:pt x="1826520" y="0"/>
                </a:moveTo>
                <a:lnTo>
                  <a:pt x="0" y="0"/>
                </a:lnTo>
                <a:lnTo>
                  <a:pt x="0" y="3917665"/>
                </a:lnTo>
                <a:lnTo>
                  <a:pt x="1826520" y="3917665"/>
                </a:lnTo>
                <a:lnTo>
                  <a:pt x="182652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14487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103618">
            <a:off x="154170" y="-386970"/>
            <a:ext cx="1749060" cy="1530427"/>
            <a:chOff x="0" y="0"/>
            <a:chExt cx="812800" cy="711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ln w="38100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27000" y="-1587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-2191441">
            <a:off x="-646985" y="6123451"/>
            <a:ext cx="1826520" cy="3917665"/>
          </a:xfrm>
          <a:custGeom>
            <a:avLst/>
            <a:gdLst/>
            <a:ahLst/>
            <a:cxnLst/>
            <a:rect r="r" b="b" t="t" l="l"/>
            <a:pathLst>
              <a:path h="3917665" w="1826520">
                <a:moveTo>
                  <a:pt x="1826520" y="0"/>
                </a:moveTo>
                <a:lnTo>
                  <a:pt x="0" y="0"/>
                </a:lnTo>
                <a:lnTo>
                  <a:pt x="0" y="3917664"/>
                </a:lnTo>
                <a:lnTo>
                  <a:pt x="1826520" y="3917664"/>
                </a:lnTo>
                <a:lnTo>
                  <a:pt x="182652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14487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583521" y="2542452"/>
            <a:ext cx="511449" cy="51144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3989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09979" y="8115332"/>
            <a:ext cx="458534" cy="45853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0DCF2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812471" y="1515632"/>
            <a:ext cx="594705" cy="594705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0DCF2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125953">
            <a:off x="16647322" y="4296822"/>
            <a:ext cx="854892" cy="2197306"/>
          </a:xfrm>
          <a:custGeom>
            <a:avLst/>
            <a:gdLst/>
            <a:ahLst/>
            <a:cxnLst/>
            <a:rect r="r" b="b" t="t" l="l"/>
            <a:pathLst>
              <a:path h="2197306" w="854892">
                <a:moveTo>
                  <a:pt x="0" y="0"/>
                </a:moveTo>
                <a:lnTo>
                  <a:pt x="854892" y="0"/>
                </a:lnTo>
                <a:lnTo>
                  <a:pt x="854892" y="2197306"/>
                </a:lnTo>
                <a:lnTo>
                  <a:pt x="0" y="219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5891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2923408">
            <a:off x="12879432" y="2407329"/>
            <a:ext cx="1312141" cy="270245"/>
            <a:chOff x="0" y="0"/>
            <a:chExt cx="320686" cy="660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20686" cy="66048"/>
            </a:xfrm>
            <a:custGeom>
              <a:avLst/>
              <a:gdLst/>
              <a:ahLst/>
              <a:cxnLst/>
              <a:rect r="r" b="b" t="t" l="l"/>
              <a:pathLst>
                <a:path h="66048" w="320686">
                  <a:moveTo>
                    <a:pt x="0" y="0"/>
                  </a:moveTo>
                  <a:lnTo>
                    <a:pt x="320686" y="0"/>
                  </a:lnTo>
                  <a:lnTo>
                    <a:pt x="320686" y="66048"/>
                  </a:lnTo>
                  <a:lnTo>
                    <a:pt x="0" y="66048"/>
                  </a:lnTo>
                  <a:close/>
                </a:path>
              </a:pathLst>
            </a:custGeom>
            <a:solidFill>
              <a:srgbClr val="5F93C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320686" cy="132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964134" y="1318423"/>
            <a:ext cx="804339" cy="304760"/>
            <a:chOff x="0" y="0"/>
            <a:chExt cx="215000" cy="8146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5000" cy="81462"/>
            </a:xfrm>
            <a:custGeom>
              <a:avLst/>
              <a:gdLst/>
              <a:ahLst/>
              <a:cxnLst/>
              <a:rect r="r" b="b" t="t" l="l"/>
              <a:pathLst>
                <a:path h="81462" w="215000">
                  <a:moveTo>
                    <a:pt x="0" y="0"/>
                  </a:moveTo>
                  <a:lnTo>
                    <a:pt x="215000" y="0"/>
                  </a:lnTo>
                  <a:lnTo>
                    <a:pt x="215000" y="81462"/>
                  </a:lnTo>
                  <a:lnTo>
                    <a:pt x="0" y="81462"/>
                  </a:lnTo>
                  <a:close/>
                </a:path>
              </a:pathLst>
            </a:custGeom>
            <a:solidFill>
              <a:srgbClr val="215AA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215000" cy="1481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5895582">
            <a:off x="17153991" y="7295789"/>
            <a:ext cx="429658" cy="429658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-4226536">
            <a:off x="6886653" y="8960490"/>
            <a:ext cx="513492" cy="449305"/>
            <a:chOff x="0" y="0"/>
            <a:chExt cx="812800" cy="711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ln w="28575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127000" y="-1587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4874098" y="6380139"/>
            <a:ext cx="8445674" cy="3578854"/>
          </a:xfrm>
          <a:custGeom>
            <a:avLst/>
            <a:gdLst/>
            <a:ahLst/>
            <a:cxnLst/>
            <a:rect r="r" b="b" t="t" l="l"/>
            <a:pathLst>
              <a:path h="3578854" w="8445674">
                <a:moveTo>
                  <a:pt x="0" y="0"/>
                </a:moveTo>
                <a:lnTo>
                  <a:pt x="8445674" y="0"/>
                </a:lnTo>
                <a:lnTo>
                  <a:pt x="8445674" y="3578854"/>
                </a:lnTo>
                <a:lnTo>
                  <a:pt x="0" y="35788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451971" y="2235341"/>
            <a:ext cx="10833878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7700" b="true">
                <a:solidFill>
                  <a:srgbClr val="181818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How the System Works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51971" y="1254179"/>
            <a:ext cx="2518968" cy="449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8"/>
              </a:lnSpc>
            </a:pPr>
            <a:r>
              <a:rPr lang="en-US" sz="2413" b="true">
                <a:solidFill>
                  <a:srgbClr val="18181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TEAM CULT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843613" y="3869983"/>
            <a:ext cx="14241041" cy="2510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User asks a question about </a:t>
            </a:r>
            <a:r>
              <a:rPr lang="en-US" sz="27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t</a:t>
            </a:r>
            <a:r>
              <a:rPr lang="en-US" sz="27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h</a:t>
            </a:r>
            <a:r>
              <a:rPr lang="en-US" sz="27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e</a:t>
            </a:r>
            <a:r>
              <a:rPr lang="en-US" sz="27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 documents</a:t>
            </a:r>
          </a:p>
          <a:p>
            <a:pPr algn="just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Sy</a:t>
            </a:r>
            <a:r>
              <a:rPr lang="en-US" sz="27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s</a:t>
            </a:r>
            <a:r>
              <a:rPr lang="en-US" sz="27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tem understands and improves the query</a:t>
            </a:r>
          </a:p>
          <a:p>
            <a:pPr algn="just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Relevant document sections are retrieved</a:t>
            </a:r>
          </a:p>
          <a:p>
            <a:pPr algn="just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The system</a:t>
            </a:r>
            <a:r>
              <a:rPr lang="en-US" sz="27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 generates an answer using those sections</a:t>
            </a:r>
          </a:p>
          <a:p>
            <a:pPr algn="just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Final response includes the answer and supporting sources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31941" y="2417750"/>
            <a:ext cx="14264838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7700" b="true">
                <a:solidFill>
                  <a:srgbClr val="181818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Core Working of the System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51971" y="1254179"/>
            <a:ext cx="2518968" cy="449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8"/>
              </a:lnSpc>
            </a:pPr>
            <a:r>
              <a:rPr lang="en-US" sz="2413" b="true">
                <a:solidFill>
                  <a:srgbClr val="18181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TEAM CULT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995804" y="6768765"/>
            <a:ext cx="3950269" cy="45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8"/>
              </a:lnSpc>
            </a:pPr>
            <a:r>
              <a:rPr lang="en-US" sz="2413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Social Media Marketing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512331" y="6768765"/>
            <a:ext cx="3950269" cy="45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8"/>
              </a:lnSpc>
            </a:pPr>
            <a:r>
              <a:rPr lang="en-US" sz="2413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Paid Advertising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1941" y="3977065"/>
            <a:ext cx="11599364" cy="3117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Documents are analyzed and divided into searchable segments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Intelligent search finds relevant sections using multiple methods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Retrieved content is ranked and filtered for relevance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The syste</a:t>
            </a:r>
            <a:r>
              <a:rPr lang="en-US" sz="28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m generates answers strictly from those sources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7634120">
            <a:off x="-936109" y="2431977"/>
            <a:ext cx="1488473" cy="2558313"/>
          </a:xfrm>
          <a:custGeom>
            <a:avLst/>
            <a:gdLst/>
            <a:ahLst/>
            <a:cxnLst/>
            <a:rect r="r" b="b" t="t" l="l"/>
            <a:pathLst>
              <a:path h="2558313" w="1488473">
                <a:moveTo>
                  <a:pt x="0" y="0"/>
                </a:moveTo>
                <a:lnTo>
                  <a:pt x="1488473" y="0"/>
                </a:lnTo>
                <a:lnTo>
                  <a:pt x="1488473" y="2558313"/>
                </a:lnTo>
                <a:lnTo>
                  <a:pt x="0" y="2558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96868" y="2737818"/>
            <a:ext cx="385137" cy="38513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103618">
            <a:off x="230743" y="-175500"/>
            <a:ext cx="1595913" cy="1396424"/>
            <a:chOff x="0" y="0"/>
            <a:chExt cx="812800" cy="711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ln w="38100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27000" y="-1587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601309" y="9223080"/>
            <a:ext cx="2881109" cy="288110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31941" y="9562628"/>
            <a:ext cx="1295718" cy="266863"/>
            <a:chOff x="0" y="0"/>
            <a:chExt cx="320686" cy="660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20686" cy="66048"/>
            </a:xfrm>
            <a:custGeom>
              <a:avLst/>
              <a:gdLst/>
              <a:ahLst/>
              <a:cxnLst/>
              <a:rect r="r" b="b" t="t" l="l"/>
              <a:pathLst>
                <a:path h="66048" w="320686">
                  <a:moveTo>
                    <a:pt x="0" y="0"/>
                  </a:moveTo>
                  <a:lnTo>
                    <a:pt x="320686" y="0"/>
                  </a:lnTo>
                  <a:lnTo>
                    <a:pt x="320686" y="66048"/>
                  </a:lnTo>
                  <a:lnTo>
                    <a:pt x="0" y="66048"/>
                  </a:lnTo>
                  <a:close/>
                </a:path>
              </a:pathLst>
            </a:custGeom>
            <a:solidFill>
              <a:srgbClr val="5F93C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320686" cy="132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09979" y="8355638"/>
            <a:ext cx="458534" cy="458534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0DCF2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4226536">
            <a:off x="15391149" y="8965655"/>
            <a:ext cx="2812167" cy="2460646"/>
            <a:chOff x="0" y="0"/>
            <a:chExt cx="812800" cy="711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ln w="38100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127000" y="-1587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456442" y="6749572"/>
            <a:ext cx="1260367" cy="1260367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6606798" y="7080202"/>
            <a:ext cx="655539" cy="655539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0DCF2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2923408">
            <a:off x="16899872" y="9377239"/>
            <a:ext cx="1452147" cy="299080"/>
            <a:chOff x="0" y="0"/>
            <a:chExt cx="320686" cy="6604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20686" cy="66048"/>
            </a:xfrm>
            <a:custGeom>
              <a:avLst/>
              <a:gdLst/>
              <a:ahLst/>
              <a:cxnLst/>
              <a:rect r="r" b="b" t="t" l="l"/>
              <a:pathLst>
                <a:path h="66048" w="320686">
                  <a:moveTo>
                    <a:pt x="0" y="0"/>
                  </a:moveTo>
                  <a:lnTo>
                    <a:pt x="320686" y="0"/>
                  </a:lnTo>
                  <a:lnTo>
                    <a:pt x="320686" y="66048"/>
                  </a:lnTo>
                  <a:lnTo>
                    <a:pt x="0" y="66048"/>
                  </a:lnTo>
                  <a:close/>
                </a:path>
              </a:pathLst>
            </a:custGeom>
            <a:solidFill>
              <a:srgbClr val="5F93C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320686" cy="132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3609974">
            <a:off x="12379235" y="9068361"/>
            <a:ext cx="938406" cy="2411961"/>
          </a:xfrm>
          <a:custGeom>
            <a:avLst/>
            <a:gdLst/>
            <a:ahLst/>
            <a:cxnLst/>
            <a:rect r="r" b="b" t="t" l="l"/>
            <a:pathLst>
              <a:path h="2411961" w="938406">
                <a:moveTo>
                  <a:pt x="0" y="0"/>
                </a:moveTo>
                <a:lnTo>
                  <a:pt x="938407" y="0"/>
                </a:lnTo>
                <a:lnTo>
                  <a:pt x="938407" y="2411961"/>
                </a:lnTo>
                <a:lnTo>
                  <a:pt x="0" y="24119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5891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true" flipV="false" rot="0">
            <a:off x="13337085" y="5461139"/>
            <a:ext cx="1815332" cy="3893666"/>
          </a:xfrm>
          <a:custGeom>
            <a:avLst/>
            <a:gdLst/>
            <a:ahLst/>
            <a:cxnLst/>
            <a:rect r="r" b="b" t="t" l="l"/>
            <a:pathLst>
              <a:path h="3893666" w="1815332">
                <a:moveTo>
                  <a:pt x="1815331" y="0"/>
                </a:moveTo>
                <a:lnTo>
                  <a:pt x="0" y="0"/>
                </a:lnTo>
                <a:lnTo>
                  <a:pt x="0" y="3893666"/>
                </a:lnTo>
                <a:lnTo>
                  <a:pt x="1815331" y="3893666"/>
                </a:lnTo>
                <a:lnTo>
                  <a:pt x="181533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14487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17791601" y="6171558"/>
            <a:ext cx="635666" cy="824129"/>
            <a:chOff x="0" y="0"/>
            <a:chExt cx="151610" cy="1965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51610" cy="196560"/>
            </a:xfrm>
            <a:custGeom>
              <a:avLst/>
              <a:gdLst/>
              <a:ahLst/>
              <a:cxnLst/>
              <a:rect r="r" b="b" t="t" l="l"/>
              <a:pathLst>
                <a:path h="196560" w="151610">
                  <a:moveTo>
                    <a:pt x="0" y="0"/>
                  </a:moveTo>
                  <a:lnTo>
                    <a:pt x="151610" y="0"/>
                  </a:lnTo>
                  <a:lnTo>
                    <a:pt x="151610" y="196560"/>
                  </a:lnTo>
                  <a:lnTo>
                    <a:pt x="0" y="196560"/>
                  </a:lnTo>
                  <a:close/>
                </a:path>
              </a:pathLst>
            </a:custGeom>
            <a:solidFill>
              <a:srgbClr val="215AA9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151610" cy="263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-4226536">
            <a:off x="16068542" y="5381487"/>
            <a:ext cx="802145" cy="701877"/>
            <a:chOff x="0" y="0"/>
            <a:chExt cx="812800" cy="711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283989"/>
            </a:solidFill>
            <a:ln cap="sq">
              <a:noFill/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127000" y="-1587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3609974">
            <a:off x="9165903" y="-953270"/>
            <a:ext cx="1232423" cy="3167663"/>
          </a:xfrm>
          <a:custGeom>
            <a:avLst/>
            <a:gdLst/>
            <a:ahLst/>
            <a:cxnLst/>
            <a:rect r="r" b="b" t="t" l="l"/>
            <a:pathLst>
              <a:path h="3167663" w="1232423">
                <a:moveTo>
                  <a:pt x="0" y="0"/>
                </a:moveTo>
                <a:lnTo>
                  <a:pt x="1232423" y="0"/>
                </a:lnTo>
                <a:lnTo>
                  <a:pt x="1232423" y="3167663"/>
                </a:lnTo>
                <a:lnTo>
                  <a:pt x="0" y="31676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5891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-4226536">
            <a:off x="9835550" y="1659479"/>
            <a:ext cx="670998" cy="587123"/>
            <a:chOff x="0" y="0"/>
            <a:chExt cx="812800" cy="711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ln w="28575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127000" y="-1587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51971" y="2293734"/>
            <a:ext cx="8948924" cy="2466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7700" b="true">
                <a:solidFill>
                  <a:srgbClr val="181818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Key Features &amp; Innovations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51971" y="1254179"/>
            <a:ext cx="2518968" cy="449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8"/>
              </a:lnSpc>
            </a:pPr>
            <a:r>
              <a:rPr lang="en-US" sz="2413" b="true">
                <a:solidFill>
                  <a:srgbClr val="18181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TEAM CULT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411855" y="9479043"/>
            <a:ext cx="2881109" cy="2881109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821396" y="9586356"/>
            <a:ext cx="1295718" cy="266863"/>
            <a:chOff x="0" y="0"/>
            <a:chExt cx="320686" cy="660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0686" cy="66048"/>
            </a:xfrm>
            <a:custGeom>
              <a:avLst/>
              <a:gdLst/>
              <a:ahLst/>
              <a:cxnLst/>
              <a:rect r="r" b="b" t="t" l="l"/>
              <a:pathLst>
                <a:path h="66048" w="320686">
                  <a:moveTo>
                    <a:pt x="0" y="0"/>
                  </a:moveTo>
                  <a:lnTo>
                    <a:pt x="320686" y="0"/>
                  </a:lnTo>
                  <a:lnTo>
                    <a:pt x="320686" y="66048"/>
                  </a:lnTo>
                  <a:lnTo>
                    <a:pt x="0" y="66048"/>
                  </a:lnTo>
                  <a:close/>
                </a:path>
              </a:pathLst>
            </a:custGeom>
            <a:solidFill>
              <a:srgbClr val="5F93C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320686" cy="132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69838" y="8641389"/>
            <a:ext cx="458534" cy="45853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0DCF2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7634120">
            <a:off x="-1029471" y="2410318"/>
            <a:ext cx="1488473" cy="2558313"/>
          </a:xfrm>
          <a:custGeom>
            <a:avLst/>
            <a:gdLst/>
            <a:ahLst/>
            <a:cxnLst/>
            <a:rect r="r" b="b" t="t" l="l"/>
            <a:pathLst>
              <a:path h="2558313" w="1488473">
                <a:moveTo>
                  <a:pt x="0" y="0"/>
                </a:moveTo>
                <a:lnTo>
                  <a:pt x="1488473" y="0"/>
                </a:lnTo>
                <a:lnTo>
                  <a:pt x="1488473" y="2558313"/>
                </a:lnTo>
                <a:lnTo>
                  <a:pt x="0" y="2558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403506" y="2716159"/>
            <a:ext cx="385137" cy="38513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103618">
            <a:off x="137381" y="-197160"/>
            <a:ext cx="1595913" cy="1396424"/>
            <a:chOff x="0" y="0"/>
            <a:chExt cx="812800" cy="711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ln w="38100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127000" y="-1587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4226536">
            <a:off x="14223182" y="9022139"/>
            <a:ext cx="2812167" cy="2460646"/>
            <a:chOff x="0" y="0"/>
            <a:chExt cx="812800" cy="711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ln w="38100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127000" y="-1587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5438831" y="7136687"/>
            <a:ext cx="655539" cy="655539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0DCF2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2923408">
            <a:off x="15731905" y="9433724"/>
            <a:ext cx="1452147" cy="299080"/>
            <a:chOff x="0" y="0"/>
            <a:chExt cx="320686" cy="660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20686" cy="66048"/>
            </a:xfrm>
            <a:custGeom>
              <a:avLst/>
              <a:gdLst/>
              <a:ahLst/>
              <a:cxnLst/>
              <a:rect r="r" b="b" t="t" l="l"/>
              <a:pathLst>
                <a:path h="66048" w="320686">
                  <a:moveTo>
                    <a:pt x="0" y="0"/>
                  </a:moveTo>
                  <a:lnTo>
                    <a:pt x="320686" y="0"/>
                  </a:lnTo>
                  <a:lnTo>
                    <a:pt x="320686" y="66048"/>
                  </a:lnTo>
                  <a:lnTo>
                    <a:pt x="0" y="66048"/>
                  </a:lnTo>
                  <a:close/>
                </a:path>
              </a:pathLst>
            </a:custGeom>
            <a:solidFill>
              <a:srgbClr val="5F93C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320686" cy="132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3609974">
            <a:off x="11211268" y="9124846"/>
            <a:ext cx="938406" cy="2411961"/>
          </a:xfrm>
          <a:custGeom>
            <a:avLst/>
            <a:gdLst/>
            <a:ahLst/>
            <a:cxnLst/>
            <a:rect r="r" b="b" t="t" l="l"/>
            <a:pathLst>
              <a:path h="2411961" w="938406">
                <a:moveTo>
                  <a:pt x="0" y="0"/>
                </a:moveTo>
                <a:lnTo>
                  <a:pt x="938407" y="0"/>
                </a:lnTo>
                <a:lnTo>
                  <a:pt x="938407" y="2411961"/>
                </a:lnTo>
                <a:lnTo>
                  <a:pt x="0" y="24119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5891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6623634" y="6228042"/>
            <a:ext cx="635666" cy="824129"/>
            <a:chOff x="0" y="0"/>
            <a:chExt cx="151610" cy="1965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51610" cy="196560"/>
            </a:xfrm>
            <a:custGeom>
              <a:avLst/>
              <a:gdLst/>
              <a:ahLst/>
              <a:cxnLst/>
              <a:rect r="r" b="b" t="t" l="l"/>
              <a:pathLst>
                <a:path h="196560" w="151610">
                  <a:moveTo>
                    <a:pt x="0" y="0"/>
                  </a:moveTo>
                  <a:lnTo>
                    <a:pt x="151610" y="0"/>
                  </a:lnTo>
                  <a:lnTo>
                    <a:pt x="151610" y="196560"/>
                  </a:lnTo>
                  <a:lnTo>
                    <a:pt x="0" y="196560"/>
                  </a:lnTo>
                  <a:close/>
                </a:path>
              </a:pathLst>
            </a:custGeom>
            <a:solidFill>
              <a:srgbClr val="215AA9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151610" cy="263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-4226536">
            <a:off x="14900575" y="5437971"/>
            <a:ext cx="802145" cy="701877"/>
            <a:chOff x="0" y="0"/>
            <a:chExt cx="812800" cy="711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283989"/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127000" y="-1587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3609974">
            <a:off x="14973360" y="-730445"/>
            <a:ext cx="1221338" cy="3139171"/>
          </a:xfrm>
          <a:custGeom>
            <a:avLst/>
            <a:gdLst/>
            <a:ahLst/>
            <a:cxnLst/>
            <a:rect r="r" b="b" t="t" l="l"/>
            <a:pathLst>
              <a:path h="3139171" w="1221338">
                <a:moveTo>
                  <a:pt x="0" y="0"/>
                </a:moveTo>
                <a:lnTo>
                  <a:pt x="1221338" y="0"/>
                </a:lnTo>
                <a:lnTo>
                  <a:pt x="1221338" y="3139172"/>
                </a:lnTo>
                <a:lnTo>
                  <a:pt x="0" y="3139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5891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12749014" y="1494186"/>
            <a:ext cx="655539" cy="655539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0DCF2"/>
            </a:solidFill>
            <a:ln cap="sq">
              <a:noFill/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-4226536">
            <a:off x="15831866" y="2357609"/>
            <a:ext cx="819543" cy="717100"/>
            <a:chOff x="0" y="0"/>
            <a:chExt cx="812800" cy="711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ln w="38100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127000" y="-1587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960048" y="3222315"/>
            <a:ext cx="1210088" cy="487838"/>
            <a:chOff x="0" y="0"/>
            <a:chExt cx="288613" cy="11635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88613" cy="116352"/>
            </a:xfrm>
            <a:custGeom>
              <a:avLst/>
              <a:gdLst/>
              <a:ahLst/>
              <a:cxnLst/>
              <a:rect r="r" b="b" t="t" l="l"/>
              <a:pathLst>
                <a:path h="116352" w="288613">
                  <a:moveTo>
                    <a:pt x="0" y="0"/>
                  </a:moveTo>
                  <a:lnTo>
                    <a:pt x="288613" y="0"/>
                  </a:lnTo>
                  <a:lnTo>
                    <a:pt x="288613" y="116352"/>
                  </a:lnTo>
                  <a:lnTo>
                    <a:pt x="0" y="116352"/>
                  </a:lnTo>
                  <a:close/>
                </a:path>
              </a:pathLst>
            </a:custGeom>
            <a:solidFill>
              <a:srgbClr val="215AA9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66675"/>
              <a:ext cx="288613" cy="183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sp>
        <p:nvSpPr>
          <p:cNvPr name="Freeform 46" id="46"/>
          <p:cNvSpPr/>
          <p:nvPr/>
        </p:nvSpPr>
        <p:spPr>
          <a:xfrm flipH="true" flipV="false" rot="0">
            <a:off x="10861179" y="1583267"/>
            <a:ext cx="693631" cy="1132892"/>
          </a:xfrm>
          <a:custGeom>
            <a:avLst/>
            <a:gdLst/>
            <a:ahLst/>
            <a:cxnLst/>
            <a:rect r="r" b="b" t="t" l="l"/>
            <a:pathLst>
              <a:path h="1132892" w="693631">
                <a:moveTo>
                  <a:pt x="693631" y="0"/>
                </a:moveTo>
                <a:lnTo>
                  <a:pt x="0" y="0"/>
                </a:lnTo>
                <a:lnTo>
                  <a:pt x="0" y="1132892"/>
                </a:lnTo>
                <a:lnTo>
                  <a:pt x="693631" y="1132892"/>
                </a:lnTo>
                <a:lnTo>
                  <a:pt x="69363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664302" b="-511882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1477420" y="5038725"/>
            <a:ext cx="11599364" cy="2602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Hybrid search combining semantic and keyword retrieval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Grounded answers with evidence citations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Bui</a:t>
            </a:r>
            <a:r>
              <a:rPr lang="en-US" sz="28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lt-in hallucination prevention mechanism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Conversation memory for follow-up questions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Confidence</a:t>
            </a:r>
            <a:r>
              <a:rPr lang="en-US" sz="28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 score</a:t>
            </a:r>
            <a:r>
              <a:rPr lang="en-US" sz="28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 for answer reliability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51971" y="2293734"/>
            <a:ext cx="8948924" cy="2466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7700" b="true">
                <a:solidFill>
                  <a:srgbClr val="181818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Real-World Applications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51971" y="1254179"/>
            <a:ext cx="2518968" cy="449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8"/>
              </a:lnSpc>
            </a:pPr>
            <a:r>
              <a:rPr lang="en-US" sz="2413" b="true">
                <a:solidFill>
                  <a:srgbClr val="18181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TEAM CULT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411855" y="9479043"/>
            <a:ext cx="2881109" cy="2881109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821396" y="9586356"/>
            <a:ext cx="1295718" cy="266863"/>
            <a:chOff x="0" y="0"/>
            <a:chExt cx="320686" cy="660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0686" cy="66048"/>
            </a:xfrm>
            <a:custGeom>
              <a:avLst/>
              <a:gdLst/>
              <a:ahLst/>
              <a:cxnLst/>
              <a:rect r="r" b="b" t="t" l="l"/>
              <a:pathLst>
                <a:path h="66048" w="320686">
                  <a:moveTo>
                    <a:pt x="0" y="0"/>
                  </a:moveTo>
                  <a:lnTo>
                    <a:pt x="320686" y="0"/>
                  </a:lnTo>
                  <a:lnTo>
                    <a:pt x="320686" y="66048"/>
                  </a:lnTo>
                  <a:lnTo>
                    <a:pt x="0" y="66048"/>
                  </a:lnTo>
                  <a:close/>
                </a:path>
              </a:pathLst>
            </a:custGeom>
            <a:solidFill>
              <a:srgbClr val="5F93C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320686" cy="132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69838" y="8641389"/>
            <a:ext cx="458534" cy="45853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0DCF2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7634120">
            <a:off x="-1029471" y="2410318"/>
            <a:ext cx="1488473" cy="2558313"/>
          </a:xfrm>
          <a:custGeom>
            <a:avLst/>
            <a:gdLst/>
            <a:ahLst/>
            <a:cxnLst/>
            <a:rect r="r" b="b" t="t" l="l"/>
            <a:pathLst>
              <a:path h="2558313" w="1488473">
                <a:moveTo>
                  <a:pt x="0" y="0"/>
                </a:moveTo>
                <a:lnTo>
                  <a:pt x="1488473" y="0"/>
                </a:lnTo>
                <a:lnTo>
                  <a:pt x="1488473" y="2558313"/>
                </a:lnTo>
                <a:lnTo>
                  <a:pt x="0" y="2558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403506" y="2716159"/>
            <a:ext cx="385137" cy="38513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103618">
            <a:off x="137381" y="-197160"/>
            <a:ext cx="1595913" cy="1396424"/>
            <a:chOff x="0" y="0"/>
            <a:chExt cx="812800" cy="711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ln w="38100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127000" y="-1587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4226536">
            <a:off x="14223182" y="9022139"/>
            <a:ext cx="2812167" cy="2460646"/>
            <a:chOff x="0" y="0"/>
            <a:chExt cx="812800" cy="711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ln w="38100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127000" y="-1587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5438831" y="7136687"/>
            <a:ext cx="655539" cy="655539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0DCF2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2923408">
            <a:off x="15731905" y="9433724"/>
            <a:ext cx="1452147" cy="299080"/>
            <a:chOff x="0" y="0"/>
            <a:chExt cx="320686" cy="660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20686" cy="66048"/>
            </a:xfrm>
            <a:custGeom>
              <a:avLst/>
              <a:gdLst/>
              <a:ahLst/>
              <a:cxnLst/>
              <a:rect r="r" b="b" t="t" l="l"/>
              <a:pathLst>
                <a:path h="66048" w="320686">
                  <a:moveTo>
                    <a:pt x="0" y="0"/>
                  </a:moveTo>
                  <a:lnTo>
                    <a:pt x="320686" y="0"/>
                  </a:lnTo>
                  <a:lnTo>
                    <a:pt x="320686" y="66048"/>
                  </a:lnTo>
                  <a:lnTo>
                    <a:pt x="0" y="66048"/>
                  </a:lnTo>
                  <a:close/>
                </a:path>
              </a:pathLst>
            </a:custGeom>
            <a:solidFill>
              <a:srgbClr val="5F93C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320686" cy="132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3609974">
            <a:off x="11211268" y="9124846"/>
            <a:ext cx="938406" cy="2411961"/>
          </a:xfrm>
          <a:custGeom>
            <a:avLst/>
            <a:gdLst/>
            <a:ahLst/>
            <a:cxnLst/>
            <a:rect r="r" b="b" t="t" l="l"/>
            <a:pathLst>
              <a:path h="2411961" w="938406">
                <a:moveTo>
                  <a:pt x="0" y="0"/>
                </a:moveTo>
                <a:lnTo>
                  <a:pt x="938407" y="0"/>
                </a:lnTo>
                <a:lnTo>
                  <a:pt x="938407" y="2411961"/>
                </a:lnTo>
                <a:lnTo>
                  <a:pt x="0" y="24119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5891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6623634" y="6228042"/>
            <a:ext cx="635666" cy="824129"/>
            <a:chOff x="0" y="0"/>
            <a:chExt cx="151610" cy="1965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51610" cy="196560"/>
            </a:xfrm>
            <a:custGeom>
              <a:avLst/>
              <a:gdLst/>
              <a:ahLst/>
              <a:cxnLst/>
              <a:rect r="r" b="b" t="t" l="l"/>
              <a:pathLst>
                <a:path h="196560" w="151610">
                  <a:moveTo>
                    <a:pt x="0" y="0"/>
                  </a:moveTo>
                  <a:lnTo>
                    <a:pt x="151610" y="0"/>
                  </a:lnTo>
                  <a:lnTo>
                    <a:pt x="151610" y="196560"/>
                  </a:lnTo>
                  <a:lnTo>
                    <a:pt x="0" y="196560"/>
                  </a:lnTo>
                  <a:close/>
                </a:path>
              </a:pathLst>
            </a:custGeom>
            <a:solidFill>
              <a:srgbClr val="215AA9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151610" cy="263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-4226536">
            <a:off x="14900575" y="5437971"/>
            <a:ext cx="802145" cy="701877"/>
            <a:chOff x="0" y="0"/>
            <a:chExt cx="812800" cy="711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283989"/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127000" y="-1587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3609974">
            <a:off x="14973360" y="-730445"/>
            <a:ext cx="1221338" cy="3139171"/>
          </a:xfrm>
          <a:custGeom>
            <a:avLst/>
            <a:gdLst/>
            <a:ahLst/>
            <a:cxnLst/>
            <a:rect r="r" b="b" t="t" l="l"/>
            <a:pathLst>
              <a:path h="3139171" w="1221338">
                <a:moveTo>
                  <a:pt x="0" y="0"/>
                </a:moveTo>
                <a:lnTo>
                  <a:pt x="1221338" y="0"/>
                </a:lnTo>
                <a:lnTo>
                  <a:pt x="1221338" y="3139172"/>
                </a:lnTo>
                <a:lnTo>
                  <a:pt x="0" y="3139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5891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12749014" y="1494186"/>
            <a:ext cx="655539" cy="655539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0DCF2"/>
            </a:solidFill>
            <a:ln cap="sq">
              <a:noFill/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-4226536">
            <a:off x="15831866" y="2357609"/>
            <a:ext cx="819543" cy="717100"/>
            <a:chOff x="0" y="0"/>
            <a:chExt cx="812800" cy="711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ln w="38100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127000" y="-1587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960048" y="3222315"/>
            <a:ext cx="1210088" cy="487838"/>
            <a:chOff x="0" y="0"/>
            <a:chExt cx="288613" cy="11635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88613" cy="116352"/>
            </a:xfrm>
            <a:custGeom>
              <a:avLst/>
              <a:gdLst/>
              <a:ahLst/>
              <a:cxnLst/>
              <a:rect r="r" b="b" t="t" l="l"/>
              <a:pathLst>
                <a:path h="116352" w="288613">
                  <a:moveTo>
                    <a:pt x="0" y="0"/>
                  </a:moveTo>
                  <a:lnTo>
                    <a:pt x="288613" y="0"/>
                  </a:lnTo>
                  <a:lnTo>
                    <a:pt x="288613" y="116352"/>
                  </a:lnTo>
                  <a:lnTo>
                    <a:pt x="0" y="116352"/>
                  </a:lnTo>
                  <a:close/>
                </a:path>
              </a:pathLst>
            </a:custGeom>
            <a:solidFill>
              <a:srgbClr val="215AA9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66675"/>
              <a:ext cx="288613" cy="183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sp>
        <p:nvSpPr>
          <p:cNvPr name="Freeform 46" id="46"/>
          <p:cNvSpPr/>
          <p:nvPr/>
        </p:nvSpPr>
        <p:spPr>
          <a:xfrm flipH="true" flipV="false" rot="0">
            <a:off x="10861179" y="1583267"/>
            <a:ext cx="693631" cy="1132892"/>
          </a:xfrm>
          <a:custGeom>
            <a:avLst/>
            <a:gdLst/>
            <a:ahLst/>
            <a:cxnLst/>
            <a:rect r="r" b="b" t="t" l="l"/>
            <a:pathLst>
              <a:path h="1132892" w="693631">
                <a:moveTo>
                  <a:pt x="693631" y="0"/>
                </a:moveTo>
                <a:lnTo>
                  <a:pt x="0" y="0"/>
                </a:lnTo>
                <a:lnTo>
                  <a:pt x="0" y="1132892"/>
                </a:lnTo>
                <a:lnTo>
                  <a:pt x="693631" y="1132892"/>
                </a:lnTo>
                <a:lnTo>
                  <a:pt x="69363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664302" b="-511882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1477420" y="5038725"/>
            <a:ext cx="11599364" cy="2602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Enterprise knowledge assistants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Legal and contract analysis tools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Research and academic document search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Customer support automation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I</a:t>
            </a:r>
            <a:r>
              <a:rPr lang="en-US" sz="28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nternal</a:t>
            </a:r>
            <a:r>
              <a:rPr lang="en-US" sz="28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 company</a:t>
            </a:r>
            <a:r>
              <a:rPr lang="en-US" sz="28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 documentation search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51971" y="2293734"/>
            <a:ext cx="11624813" cy="2466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7700" b="true">
                <a:solidFill>
                  <a:srgbClr val="181818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Conclusion &amp; Future Improvements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51971" y="1254179"/>
            <a:ext cx="2518968" cy="449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8"/>
              </a:lnSpc>
            </a:pPr>
            <a:r>
              <a:rPr lang="en-US" sz="2413" b="true">
                <a:solidFill>
                  <a:srgbClr val="18181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TEAM CULT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411855" y="9479043"/>
            <a:ext cx="2881109" cy="2881109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821396" y="9586356"/>
            <a:ext cx="1295718" cy="266863"/>
            <a:chOff x="0" y="0"/>
            <a:chExt cx="320686" cy="660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0686" cy="66048"/>
            </a:xfrm>
            <a:custGeom>
              <a:avLst/>
              <a:gdLst/>
              <a:ahLst/>
              <a:cxnLst/>
              <a:rect r="r" b="b" t="t" l="l"/>
              <a:pathLst>
                <a:path h="66048" w="320686">
                  <a:moveTo>
                    <a:pt x="0" y="0"/>
                  </a:moveTo>
                  <a:lnTo>
                    <a:pt x="320686" y="0"/>
                  </a:lnTo>
                  <a:lnTo>
                    <a:pt x="320686" y="66048"/>
                  </a:lnTo>
                  <a:lnTo>
                    <a:pt x="0" y="66048"/>
                  </a:lnTo>
                  <a:close/>
                </a:path>
              </a:pathLst>
            </a:custGeom>
            <a:solidFill>
              <a:srgbClr val="5F93C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320686" cy="132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69838" y="8641389"/>
            <a:ext cx="458534" cy="45853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0DCF2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7634120">
            <a:off x="-1029471" y="2410318"/>
            <a:ext cx="1488473" cy="2558313"/>
          </a:xfrm>
          <a:custGeom>
            <a:avLst/>
            <a:gdLst/>
            <a:ahLst/>
            <a:cxnLst/>
            <a:rect r="r" b="b" t="t" l="l"/>
            <a:pathLst>
              <a:path h="2558313" w="1488473">
                <a:moveTo>
                  <a:pt x="0" y="0"/>
                </a:moveTo>
                <a:lnTo>
                  <a:pt x="1488473" y="0"/>
                </a:lnTo>
                <a:lnTo>
                  <a:pt x="1488473" y="2558313"/>
                </a:lnTo>
                <a:lnTo>
                  <a:pt x="0" y="2558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403506" y="2716159"/>
            <a:ext cx="385137" cy="38513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103618">
            <a:off x="137381" y="-197160"/>
            <a:ext cx="1595913" cy="1396424"/>
            <a:chOff x="0" y="0"/>
            <a:chExt cx="812800" cy="711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ln w="38100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127000" y="-1587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4226536">
            <a:off x="14223182" y="9022139"/>
            <a:ext cx="2812167" cy="2460646"/>
            <a:chOff x="0" y="0"/>
            <a:chExt cx="812800" cy="711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ln w="38100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127000" y="-1587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5438831" y="7136687"/>
            <a:ext cx="655539" cy="655539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0DCF2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2923408">
            <a:off x="15731905" y="9433724"/>
            <a:ext cx="1452147" cy="299080"/>
            <a:chOff x="0" y="0"/>
            <a:chExt cx="320686" cy="660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20686" cy="66048"/>
            </a:xfrm>
            <a:custGeom>
              <a:avLst/>
              <a:gdLst/>
              <a:ahLst/>
              <a:cxnLst/>
              <a:rect r="r" b="b" t="t" l="l"/>
              <a:pathLst>
                <a:path h="66048" w="320686">
                  <a:moveTo>
                    <a:pt x="0" y="0"/>
                  </a:moveTo>
                  <a:lnTo>
                    <a:pt x="320686" y="0"/>
                  </a:lnTo>
                  <a:lnTo>
                    <a:pt x="320686" y="66048"/>
                  </a:lnTo>
                  <a:lnTo>
                    <a:pt x="0" y="66048"/>
                  </a:lnTo>
                  <a:close/>
                </a:path>
              </a:pathLst>
            </a:custGeom>
            <a:solidFill>
              <a:srgbClr val="5F93C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320686" cy="132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3609974">
            <a:off x="11211268" y="9124846"/>
            <a:ext cx="938406" cy="2411961"/>
          </a:xfrm>
          <a:custGeom>
            <a:avLst/>
            <a:gdLst/>
            <a:ahLst/>
            <a:cxnLst/>
            <a:rect r="r" b="b" t="t" l="l"/>
            <a:pathLst>
              <a:path h="2411961" w="938406">
                <a:moveTo>
                  <a:pt x="0" y="0"/>
                </a:moveTo>
                <a:lnTo>
                  <a:pt x="938407" y="0"/>
                </a:lnTo>
                <a:lnTo>
                  <a:pt x="938407" y="2411961"/>
                </a:lnTo>
                <a:lnTo>
                  <a:pt x="0" y="24119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5891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6623634" y="6228042"/>
            <a:ext cx="635666" cy="824129"/>
            <a:chOff x="0" y="0"/>
            <a:chExt cx="151610" cy="1965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51610" cy="196560"/>
            </a:xfrm>
            <a:custGeom>
              <a:avLst/>
              <a:gdLst/>
              <a:ahLst/>
              <a:cxnLst/>
              <a:rect r="r" b="b" t="t" l="l"/>
              <a:pathLst>
                <a:path h="196560" w="151610">
                  <a:moveTo>
                    <a:pt x="0" y="0"/>
                  </a:moveTo>
                  <a:lnTo>
                    <a:pt x="151610" y="0"/>
                  </a:lnTo>
                  <a:lnTo>
                    <a:pt x="151610" y="196560"/>
                  </a:lnTo>
                  <a:lnTo>
                    <a:pt x="0" y="196560"/>
                  </a:lnTo>
                  <a:close/>
                </a:path>
              </a:pathLst>
            </a:custGeom>
            <a:solidFill>
              <a:srgbClr val="215AA9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151610" cy="263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-4226536">
            <a:off x="14900575" y="5437971"/>
            <a:ext cx="802145" cy="701877"/>
            <a:chOff x="0" y="0"/>
            <a:chExt cx="812800" cy="711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283989"/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127000" y="-1587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3609974">
            <a:off x="14973360" y="-730445"/>
            <a:ext cx="1221338" cy="3139171"/>
          </a:xfrm>
          <a:custGeom>
            <a:avLst/>
            <a:gdLst/>
            <a:ahLst/>
            <a:cxnLst/>
            <a:rect r="r" b="b" t="t" l="l"/>
            <a:pathLst>
              <a:path h="3139171" w="1221338">
                <a:moveTo>
                  <a:pt x="0" y="0"/>
                </a:moveTo>
                <a:lnTo>
                  <a:pt x="1221338" y="0"/>
                </a:lnTo>
                <a:lnTo>
                  <a:pt x="1221338" y="3139172"/>
                </a:lnTo>
                <a:lnTo>
                  <a:pt x="0" y="3139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5891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12749014" y="1494186"/>
            <a:ext cx="655539" cy="655539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0DCF2"/>
            </a:solidFill>
            <a:ln cap="sq">
              <a:noFill/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-4226536">
            <a:off x="15831866" y="2357609"/>
            <a:ext cx="819543" cy="717100"/>
            <a:chOff x="0" y="0"/>
            <a:chExt cx="812800" cy="711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ln w="38100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127000" y="-1587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960048" y="3222315"/>
            <a:ext cx="1210088" cy="487838"/>
            <a:chOff x="0" y="0"/>
            <a:chExt cx="288613" cy="11635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88613" cy="116352"/>
            </a:xfrm>
            <a:custGeom>
              <a:avLst/>
              <a:gdLst/>
              <a:ahLst/>
              <a:cxnLst/>
              <a:rect r="r" b="b" t="t" l="l"/>
              <a:pathLst>
                <a:path h="116352" w="288613">
                  <a:moveTo>
                    <a:pt x="0" y="0"/>
                  </a:moveTo>
                  <a:lnTo>
                    <a:pt x="288613" y="0"/>
                  </a:lnTo>
                  <a:lnTo>
                    <a:pt x="288613" y="116352"/>
                  </a:lnTo>
                  <a:lnTo>
                    <a:pt x="0" y="116352"/>
                  </a:lnTo>
                  <a:close/>
                </a:path>
              </a:pathLst>
            </a:custGeom>
            <a:solidFill>
              <a:srgbClr val="215AA9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66675"/>
              <a:ext cx="288613" cy="183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sp>
        <p:nvSpPr>
          <p:cNvPr name="Freeform 46" id="46"/>
          <p:cNvSpPr/>
          <p:nvPr/>
        </p:nvSpPr>
        <p:spPr>
          <a:xfrm flipH="true" flipV="false" rot="0">
            <a:off x="10861179" y="1583267"/>
            <a:ext cx="693631" cy="1132892"/>
          </a:xfrm>
          <a:custGeom>
            <a:avLst/>
            <a:gdLst/>
            <a:ahLst/>
            <a:cxnLst/>
            <a:rect r="r" b="b" t="t" l="l"/>
            <a:pathLst>
              <a:path h="1132892" w="693631">
                <a:moveTo>
                  <a:pt x="693631" y="0"/>
                </a:moveTo>
                <a:lnTo>
                  <a:pt x="0" y="0"/>
                </a:lnTo>
                <a:lnTo>
                  <a:pt x="0" y="1132892"/>
                </a:lnTo>
                <a:lnTo>
                  <a:pt x="693631" y="1132892"/>
                </a:lnTo>
                <a:lnTo>
                  <a:pt x="69363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664302" b="-511882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1477420" y="5160759"/>
            <a:ext cx="11599364" cy="2602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Fast and reliable document-based question answering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Reduces time spent searching through large documents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Pr</a:t>
            </a:r>
            <a:r>
              <a:rPr lang="en-US" sz="28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ovides transparent answers with sources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Future work: larger datasets, advanced</a:t>
            </a:r>
            <a:r>
              <a:rPr lang="en-US" sz="28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 reas</a:t>
            </a:r>
            <a:r>
              <a:rPr lang="en-US" sz="2899">
                <a:solidFill>
                  <a:srgbClr val="181818"/>
                </a:solidFill>
                <a:latin typeface="Codec Pro"/>
                <a:ea typeface="Codec Pro"/>
                <a:cs typeface="Codec Pro"/>
                <a:sym typeface="Codec Pro"/>
              </a:rPr>
              <a:t>oning, improved ranking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4226536">
            <a:off x="14242700" y="5783401"/>
            <a:ext cx="2541037" cy="2223407"/>
            <a:chOff x="0" y="0"/>
            <a:chExt cx="812800" cy="71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ln w="38100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27000" y="-1587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398111" y="3780978"/>
            <a:ext cx="1138851" cy="113885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341144" y="4079731"/>
            <a:ext cx="592336" cy="59233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0DCF2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2923408">
            <a:off x="15605963" y="6155303"/>
            <a:ext cx="1312141" cy="270245"/>
            <a:chOff x="0" y="0"/>
            <a:chExt cx="320686" cy="660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0686" cy="66048"/>
            </a:xfrm>
            <a:custGeom>
              <a:avLst/>
              <a:gdLst/>
              <a:ahLst/>
              <a:cxnLst/>
              <a:rect r="r" b="b" t="t" l="l"/>
              <a:pathLst>
                <a:path h="66048" w="320686">
                  <a:moveTo>
                    <a:pt x="0" y="0"/>
                  </a:moveTo>
                  <a:lnTo>
                    <a:pt x="320686" y="0"/>
                  </a:lnTo>
                  <a:lnTo>
                    <a:pt x="320686" y="66048"/>
                  </a:lnTo>
                  <a:lnTo>
                    <a:pt x="0" y="66048"/>
                  </a:lnTo>
                  <a:close/>
                </a:path>
              </a:pathLst>
            </a:custGeom>
            <a:solidFill>
              <a:srgbClr val="5F93C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320686" cy="132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3609974">
            <a:off x="11626656" y="6113537"/>
            <a:ext cx="847932" cy="2179416"/>
          </a:xfrm>
          <a:custGeom>
            <a:avLst/>
            <a:gdLst/>
            <a:ahLst/>
            <a:cxnLst/>
            <a:rect r="r" b="b" t="t" l="l"/>
            <a:pathLst>
              <a:path h="2179416" w="847932">
                <a:moveTo>
                  <a:pt x="0" y="0"/>
                </a:moveTo>
                <a:lnTo>
                  <a:pt x="847931" y="0"/>
                </a:lnTo>
                <a:lnTo>
                  <a:pt x="847931" y="2179416"/>
                </a:lnTo>
                <a:lnTo>
                  <a:pt x="0" y="21794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5891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12386675" y="2616766"/>
            <a:ext cx="1640310" cy="3518265"/>
          </a:xfrm>
          <a:custGeom>
            <a:avLst/>
            <a:gdLst/>
            <a:ahLst/>
            <a:cxnLst/>
            <a:rect r="r" b="b" t="t" l="l"/>
            <a:pathLst>
              <a:path h="3518265" w="1640310">
                <a:moveTo>
                  <a:pt x="1640310" y="0"/>
                </a:moveTo>
                <a:lnTo>
                  <a:pt x="0" y="0"/>
                </a:lnTo>
                <a:lnTo>
                  <a:pt x="0" y="3518266"/>
                </a:lnTo>
                <a:lnTo>
                  <a:pt x="1640310" y="3518266"/>
                </a:lnTo>
                <a:lnTo>
                  <a:pt x="164031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4487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6411717" y="3258692"/>
            <a:ext cx="574379" cy="744672"/>
            <a:chOff x="0" y="0"/>
            <a:chExt cx="151610" cy="1965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1610" cy="196560"/>
            </a:xfrm>
            <a:custGeom>
              <a:avLst/>
              <a:gdLst/>
              <a:ahLst/>
              <a:cxnLst/>
              <a:rect r="r" b="b" t="t" l="l"/>
              <a:pathLst>
                <a:path h="196560" w="151610">
                  <a:moveTo>
                    <a:pt x="0" y="0"/>
                  </a:moveTo>
                  <a:lnTo>
                    <a:pt x="151610" y="0"/>
                  </a:lnTo>
                  <a:lnTo>
                    <a:pt x="151610" y="196560"/>
                  </a:lnTo>
                  <a:lnTo>
                    <a:pt x="0" y="196560"/>
                  </a:lnTo>
                  <a:close/>
                </a:path>
              </a:pathLst>
            </a:custGeom>
            <a:solidFill>
              <a:srgbClr val="215AA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51610" cy="263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022610" y="6065550"/>
            <a:ext cx="500833" cy="496135"/>
            <a:chOff x="0" y="0"/>
            <a:chExt cx="133873" cy="13261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3873" cy="132617"/>
            </a:xfrm>
            <a:custGeom>
              <a:avLst/>
              <a:gdLst/>
              <a:ahLst/>
              <a:cxnLst/>
              <a:rect r="r" b="b" t="t" l="l"/>
              <a:pathLst>
                <a:path h="132617" w="133873">
                  <a:moveTo>
                    <a:pt x="0" y="0"/>
                  </a:moveTo>
                  <a:lnTo>
                    <a:pt x="133873" y="0"/>
                  </a:lnTo>
                  <a:lnTo>
                    <a:pt x="133873" y="132617"/>
                  </a:lnTo>
                  <a:lnTo>
                    <a:pt x="0" y="132617"/>
                  </a:lnTo>
                  <a:close/>
                </a:path>
              </a:pathLst>
            </a:custGeom>
            <a:ln w="28575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133873" cy="1992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-4226536">
            <a:off x="14854784" y="2544794"/>
            <a:ext cx="724807" cy="634206"/>
            <a:chOff x="0" y="0"/>
            <a:chExt cx="812800" cy="711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283989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127000" y="-1587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7634120">
            <a:off x="-564556" y="1770162"/>
            <a:ext cx="1252693" cy="2153067"/>
          </a:xfrm>
          <a:custGeom>
            <a:avLst/>
            <a:gdLst/>
            <a:ahLst/>
            <a:cxnLst/>
            <a:rect r="r" b="b" t="t" l="l"/>
            <a:pathLst>
              <a:path h="2153067" w="1252693">
                <a:moveTo>
                  <a:pt x="0" y="0"/>
                </a:moveTo>
                <a:lnTo>
                  <a:pt x="1252693" y="0"/>
                </a:lnTo>
                <a:lnTo>
                  <a:pt x="1252693" y="2153066"/>
                </a:lnTo>
                <a:lnTo>
                  <a:pt x="0" y="21530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759524" y="1795464"/>
            <a:ext cx="538353" cy="538353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-103618">
            <a:off x="230743" y="-175500"/>
            <a:ext cx="1595913" cy="1396424"/>
            <a:chOff x="0" y="0"/>
            <a:chExt cx="812800" cy="711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ln w="38100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127000" y="-1587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-157984" y="9234851"/>
            <a:ext cx="2076117" cy="2076117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70274" y="9634910"/>
            <a:ext cx="1295718" cy="266863"/>
            <a:chOff x="0" y="0"/>
            <a:chExt cx="320686" cy="6604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20686" cy="66048"/>
            </a:xfrm>
            <a:custGeom>
              <a:avLst/>
              <a:gdLst/>
              <a:ahLst/>
              <a:cxnLst/>
              <a:rect r="r" b="b" t="t" l="l"/>
              <a:pathLst>
                <a:path h="66048" w="320686">
                  <a:moveTo>
                    <a:pt x="0" y="0"/>
                  </a:moveTo>
                  <a:lnTo>
                    <a:pt x="320686" y="0"/>
                  </a:lnTo>
                  <a:lnTo>
                    <a:pt x="320686" y="66048"/>
                  </a:lnTo>
                  <a:lnTo>
                    <a:pt x="0" y="66048"/>
                  </a:lnTo>
                  <a:close/>
                </a:path>
              </a:pathLst>
            </a:custGeom>
            <a:solidFill>
              <a:srgbClr val="5F93C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320686" cy="132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70166" y="8348386"/>
            <a:ext cx="458534" cy="458534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0DCF2"/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8308350" y="8805230"/>
            <a:ext cx="2794097" cy="2794097"/>
          </a:xfrm>
          <a:custGeom>
            <a:avLst/>
            <a:gdLst/>
            <a:ahLst/>
            <a:cxnLst/>
            <a:rect r="r" b="b" t="t" l="l"/>
            <a:pathLst>
              <a:path h="2794097" w="2794097">
                <a:moveTo>
                  <a:pt x="0" y="0"/>
                </a:moveTo>
                <a:lnTo>
                  <a:pt x="2794097" y="0"/>
                </a:lnTo>
                <a:lnTo>
                  <a:pt x="2794097" y="2794097"/>
                </a:lnTo>
                <a:lnTo>
                  <a:pt x="0" y="27940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-4226536">
            <a:off x="8200891" y="7997833"/>
            <a:ext cx="801265" cy="701106"/>
            <a:chOff x="0" y="0"/>
            <a:chExt cx="812800" cy="711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ln w="28575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127000" y="-1587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875591" y="8515916"/>
            <a:ext cx="673011" cy="582007"/>
            <a:chOff x="0" y="0"/>
            <a:chExt cx="179896" cy="15557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79896" cy="155571"/>
            </a:xfrm>
            <a:custGeom>
              <a:avLst/>
              <a:gdLst/>
              <a:ahLst/>
              <a:cxnLst/>
              <a:rect r="r" b="b" t="t" l="l"/>
              <a:pathLst>
                <a:path h="155571" w="179896">
                  <a:moveTo>
                    <a:pt x="0" y="0"/>
                  </a:moveTo>
                  <a:lnTo>
                    <a:pt x="179896" y="0"/>
                  </a:lnTo>
                  <a:lnTo>
                    <a:pt x="179896" y="155571"/>
                  </a:lnTo>
                  <a:lnTo>
                    <a:pt x="0" y="155571"/>
                  </a:lnTo>
                  <a:close/>
                </a:path>
              </a:pathLst>
            </a:custGeom>
            <a:solidFill>
              <a:srgbClr val="215AA9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66675"/>
              <a:ext cx="179896" cy="222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sp>
        <p:nvSpPr>
          <p:cNvPr name="Freeform 48" id="48"/>
          <p:cNvSpPr/>
          <p:nvPr/>
        </p:nvSpPr>
        <p:spPr>
          <a:xfrm flipH="true" flipV="false" rot="-3594555">
            <a:off x="8153007" y="-1070103"/>
            <a:ext cx="1239412" cy="3185629"/>
          </a:xfrm>
          <a:custGeom>
            <a:avLst/>
            <a:gdLst/>
            <a:ahLst/>
            <a:cxnLst/>
            <a:rect r="r" b="b" t="t" l="l"/>
            <a:pathLst>
              <a:path h="3185629" w="1239412">
                <a:moveTo>
                  <a:pt x="1239413" y="0"/>
                </a:moveTo>
                <a:lnTo>
                  <a:pt x="0" y="0"/>
                </a:lnTo>
                <a:lnTo>
                  <a:pt x="0" y="3185629"/>
                </a:lnTo>
                <a:lnTo>
                  <a:pt x="1239413" y="3185629"/>
                </a:lnTo>
                <a:lnTo>
                  <a:pt x="123941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5891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true" flipV="false" rot="0">
            <a:off x="11085175" y="3631028"/>
            <a:ext cx="587865" cy="960147"/>
          </a:xfrm>
          <a:custGeom>
            <a:avLst/>
            <a:gdLst/>
            <a:ahLst/>
            <a:cxnLst/>
            <a:rect r="r" b="b" t="t" l="l"/>
            <a:pathLst>
              <a:path h="960147" w="587865">
                <a:moveTo>
                  <a:pt x="587865" y="0"/>
                </a:moveTo>
                <a:lnTo>
                  <a:pt x="0" y="0"/>
                </a:lnTo>
                <a:lnTo>
                  <a:pt x="0" y="960147"/>
                </a:lnTo>
                <a:lnTo>
                  <a:pt x="587865" y="960147"/>
                </a:lnTo>
                <a:lnTo>
                  <a:pt x="587865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-664302" b="-511882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8137082" y="1547396"/>
            <a:ext cx="1006918" cy="351376"/>
            <a:chOff x="0" y="0"/>
            <a:chExt cx="269149" cy="9392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69149" cy="93923"/>
            </a:xfrm>
            <a:custGeom>
              <a:avLst/>
              <a:gdLst/>
              <a:ahLst/>
              <a:cxnLst/>
              <a:rect r="r" b="b" t="t" l="l"/>
              <a:pathLst>
                <a:path h="93923" w="269149">
                  <a:moveTo>
                    <a:pt x="0" y="0"/>
                  </a:moveTo>
                  <a:lnTo>
                    <a:pt x="269149" y="0"/>
                  </a:lnTo>
                  <a:lnTo>
                    <a:pt x="269149" y="93923"/>
                  </a:lnTo>
                  <a:lnTo>
                    <a:pt x="0" y="93923"/>
                  </a:lnTo>
                  <a:close/>
                </a:path>
              </a:pathLst>
            </a:custGeom>
            <a:ln w="28575" cap="sq">
              <a:solidFill>
                <a:srgbClr val="181818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-66675"/>
              <a:ext cx="269149" cy="1605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184319" y="6196241"/>
            <a:ext cx="540709" cy="540709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0DCF2"/>
            </a:solidFill>
            <a:ln cap="sq">
              <a:noFill/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4"/>
                </a:lnSpc>
              </a:pPr>
            </a:p>
          </p:txBody>
        </p:sp>
      </p:grpSp>
      <p:sp>
        <p:nvSpPr>
          <p:cNvPr name="Freeform 56" id="56"/>
          <p:cNvSpPr/>
          <p:nvPr/>
        </p:nvSpPr>
        <p:spPr>
          <a:xfrm flipH="false" flipV="false" rot="0">
            <a:off x="9636123" y="4269969"/>
            <a:ext cx="378649" cy="160868"/>
          </a:xfrm>
          <a:custGeom>
            <a:avLst/>
            <a:gdLst/>
            <a:ahLst/>
            <a:cxnLst/>
            <a:rect r="r" b="b" t="t" l="l"/>
            <a:pathLst>
              <a:path h="160868" w="378649">
                <a:moveTo>
                  <a:pt x="0" y="0"/>
                </a:moveTo>
                <a:lnTo>
                  <a:pt x="378649" y="0"/>
                </a:lnTo>
                <a:lnTo>
                  <a:pt x="378649" y="160868"/>
                </a:lnTo>
                <a:lnTo>
                  <a:pt x="0" y="16086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-119420" b="-41647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2091015" y="4124542"/>
            <a:ext cx="10286135" cy="2094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62"/>
              </a:lnSpc>
            </a:pPr>
            <a:r>
              <a:rPr lang="en-US" sz="11259" b="true">
                <a:solidFill>
                  <a:srgbClr val="181818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Thank You!!!!!!!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451971" y="1254179"/>
            <a:ext cx="2518968" cy="449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8"/>
              </a:lnSpc>
            </a:pPr>
            <a:r>
              <a:rPr lang="en-US" sz="2413" b="true">
                <a:solidFill>
                  <a:srgbClr val="18181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TEAM CULT</a:t>
            </a:r>
          </a:p>
        </p:txBody>
      </p:sp>
      <p:sp>
        <p:nvSpPr>
          <p:cNvPr name="Freeform 59" id="59"/>
          <p:cNvSpPr/>
          <p:nvPr/>
        </p:nvSpPr>
        <p:spPr>
          <a:xfrm flipH="false" flipV="false" rot="0">
            <a:off x="12207615" y="1696625"/>
            <a:ext cx="378649" cy="160868"/>
          </a:xfrm>
          <a:custGeom>
            <a:avLst/>
            <a:gdLst/>
            <a:ahLst/>
            <a:cxnLst/>
            <a:rect r="r" b="b" t="t" l="l"/>
            <a:pathLst>
              <a:path h="160868" w="378649">
                <a:moveTo>
                  <a:pt x="0" y="0"/>
                </a:moveTo>
                <a:lnTo>
                  <a:pt x="378650" y="0"/>
                </a:lnTo>
                <a:lnTo>
                  <a:pt x="378650" y="160867"/>
                </a:lnTo>
                <a:lnTo>
                  <a:pt x="0" y="16086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-119420" b="-41647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3146369" y="2253383"/>
            <a:ext cx="378649" cy="160868"/>
          </a:xfrm>
          <a:custGeom>
            <a:avLst/>
            <a:gdLst/>
            <a:ahLst/>
            <a:cxnLst/>
            <a:rect r="r" b="b" t="t" l="l"/>
            <a:pathLst>
              <a:path h="160868" w="378649">
                <a:moveTo>
                  <a:pt x="0" y="0"/>
                </a:moveTo>
                <a:lnTo>
                  <a:pt x="378649" y="0"/>
                </a:lnTo>
                <a:lnTo>
                  <a:pt x="378649" y="160867"/>
                </a:lnTo>
                <a:lnTo>
                  <a:pt x="0" y="16086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-119420" b="-41647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6133758" y="8555261"/>
            <a:ext cx="378649" cy="160868"/>
          </a:xfrm>
          <a:custGeom>
            <a:avLst/>
            <a:gdLst/>
            <a:ahLst/>
            <a:cxnLst/>
            <a:rect r="r" b="b" t="t" l="l"/>
            <a:pathLst>
              <a:path h="160868" w="378649">
                <a:moveTo>
                  <a:pt x="0" y="0"/>
                </a:moveTo>
                <a:lnTo>
                  <a:pt x="378649" y="0"/>
                </a:lnTo>
                <a:lnTo>
                  <a:pt x="378649" y="160868"/>
                </a:lnTo>
                <a:lnTo>
                  <a:pt x="0" y="16086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-119420" b="-41647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DAHDEJkJQYI</dc:identifier>
  <dcterms:modified xsi:type="dcterms:W3CDTF">2011-08-01T06:04:30Z</dcterms:modified>
  <cp:revision>1</cp:revision>
  <dc:title>JARVIS OF</dc:title>
</cp:coreProperties>
</file>